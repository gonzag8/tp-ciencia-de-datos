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52611" autoAdjust="0"/>
  </p:normalViewPr>
  <p:slideViewPr>
    <p:cSldViewPr snapToGrid="0" snapToObjects="1">
      <p:cViewPr varScale="1">
        <p:scale>
          <a:sx n="43" d="100"/>
          <a:sy n="43" d="100"/>
        </p:scale>
        <p:origin x="2213"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318212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Buenas</a:t>
            </a:r>
            <a:r>
              <a:rPr dirty="0"/>
              <a:t>. Somos </a:t>
            </a:r>
            <a:r>
              <a:rPr lang="es-ES" dirty="0"/>
              <a:t>Gonzalo </a:t>
            </a:r>
            <a:r>
              <a:rPr dirty="0"/>
              <a:t>Gaitán, </a:t>
            </a:r>
            <a:r>
              <a:rPr lang="es-ES" dirty="0"/>
              <a:t>Marcos </a:t>
            </a:r>
            <a:r>
              <a:rPr dirty="0"/>
              <a:t>Debona,</a:t>
            </a:r>
            <a:r>
              <a:rPr lang="es-ES" dirty="0"/>
              <a:t> Gonzalo</a:t>
            </a:r>
            <a:r>
              <a:rPr dirty="0"/>
              <a:t> Agüero y </a:t>
            </a:r>
            <a:r>
              <a:rPr lang="es-ES" dirty="0"/>
              <a:t>Franco </a:t>
            </a:r>
            <a:r>
              <a:rPr dirty="0"/>
              <a:t>Ocampo. </a:t>
            </a:r>
            <a:endParaRPr lang="es-ES" dirty="0"/>
          </a:p>
          <a:p>
            <a:r>
              <a:rPr lang="es-ES" dirty="0"/>
              <a:t>En este caso, e</a:t>
            </a:r>
            <a:r>
              <a:rPr dirty="0" err="1"/>
              <a:t>xtendemos</a:t>
            </a:r>
            <a:r>
              <a:rPr dirty="0"/>
              <a:t> </a:t>
            </a:r>
            <a:r>
              <a:rPr dirty="0" err="1"/>
              <a:t>nuestro</a:t>
            </a:r>
            <a:r>
              <a:rPr dirty="0"/>
              <a:t> </a:t>
            </a:r>
            <a:r>
              <a:rPr dirty="0" err="1"/>
              <a:t>Trabajo</a:t>
            </a:r>
            <a:r>
              <a:rPr dirty="0"/>
              <a:t> </a:t>
            </a:r>
            <a:r>
              <a:rPr dirty="0" err="1"/>
              <a:t>Práctico</a:t>
            </a:r>
            <a:r>
              <a:rPr dirty="0"/>
              <a:t> </a:t>
            </a:r>
            <a:r>
              <a:rPr lang="es-ES" dirty="0"/>
              <a:t>número 1 de Ciencia de Datos. Trata sobre el </a:t>
            </a:r>
            <a:r>
              <a:rPr dirty="0" err="1"/>
              <a:t>mantenimiento</a:t>
            </a:r>
            <a:r>
              <a:rPr dirty="0"/>
              <a:t> </a:t>
            </a:r>
            <a:r>
              <a:rPr dirty="0" err="1"/>
              <a:t>predictivo</a:t>
            </a:r>
            <a:r>
              <a:rPr dirty="0"/>
              <a:t> industrial</a:t>
            </a:r>
            <a:r>
              <a:rPr lang="es-ES" dirty="0"/>
              <a:t> donde</a:t>
            </a:r>
            <a:r>
              <a:rPr dirty="0"/>
              <a:t> dado un conjunto de variables de </a:t>
            </a:r>
            <a:r>
              <a:rPr dirty="0" err="1"/>
              <a:t>operación</a:t>
            </a:r>
            <a:r>
              <a:rPr dirty="0"/>
              <a:t> de </a:t>
            </a:r>
            <a:r>
              <a:rPr dirty="0" err="1"/>
              <a:t>una</a:t>
            </a:r>
            <a:r>
              <a:rPr dirty="0"/>
              <a:t> </a:t>
            </a:r>
            <a:r>
              <a:rPr dirty="0" err="1"/>
              <a:t>máquina</a:t>
            </a:r>
            <a:r>
              <a:rPr dirty="0"/>
              <a:t>, </a:t>
            </a:r>
            <a:r>
              <a:rPr dirty="0" err="1"/>
              <a:t>queremos</a:t>
            </a:r>
            <a:r>
              <a:rPr dirty="0"/>
              <a:t> </a:t>
            </a:r>
            <a:r>
              <a:rPr dirty="0" err="1"/>
              <a:t>predecir</a:t>
            </a:r>
            <a:r>
              <a:rPr dirty="0"/>
              <a:t> </a:t>
            </a:r>
            <a:r>
              <a:rPr dirty="0" err="1"/>
              <a:t>si</a:t>
            </a:r>
            <a:r>
              <a:rPr dirty="0"/>
              <a:t> </a:t>
            </a:r>
            <a:r>
              <a:rPr lang="es-ES" dirty="0"/>
              <a:t>ésta </a:t>
            </a:r>
            <a:r>
              <a:rPr dirty="0" err="1"/>
              <a:t>va</a:t>
            </a:r>
            <a:r>
              <a:rPr dirty="0"/>
              <a:t> a </a:t>
            </a:r>
            <a:r>
              <a:rPr dirty="0" err="1"/>
              <a:t>fallar</a:t>
            </a:r>
            <a:r>
              <a:rPr dirty="0"/>
              <a:t>. </a:t>
            </a:r>
            <a:endParaRPr lang="es-ES" dirty="0"/>
          </a:p>
          <a:p>
            <a:r>
              <a:rPr dirty="0"/>
              <a:t>Hoy </a:t>
            </a:r>
            <a:r>
              <a:rPr dirty="0" err="1"/>
              <a:t>sumamos</a:t>
            </a:r>
            <a:r>
              <a:rPr dirty="0"/>
              <a:t> </a:t>
            </a:r>
            <a:r>
              <a:rPr dirty="0" err="1"/>
              <a:t>una</a:t>
            </a:r>
            <a:r>
              <a:rPr dirty="0"/>
              <a:t> red neuronal</a:t>
            </a:r>
            <a:r>
              <a:rPr lang="es-ES" dirty="0"/>
              <a:t>, específicamente, </a:t>
            </a:r>
            <a:r>
              <a:rPr dirty="0"/>
              <a:t>un </a:t>
            </a:r>
            <a:r>
              <a:rPr dirty="0" err="1"/>
              <a:t>Perceptrón</a:t>
            </a:r>
            <a:r>
              <a:rPr dirty="0"/>
              <a:t> </a:t>
            </a:r>
            <a:r>
              <a:rPr dirty="0" err="1"/>
              <a:t>Multicapa</a:t>
            </a:r>
            <a:r>
              <a:rPr dirty="0"/>
              <a:t> y la </a:t>
            </a:r>
            <a:r>
              <a:rPr dirty="0" err="1"/>
              <a:t>comparamos</a:t>
            </a:r>
            <a:r>
              <a:rPr dirty="0"/>
              <a:t> contra </a:t>
            </a:r>
            <a:r>
              <a:rPr dirty="0" err="1"/>
              <a:t>los</a:t>
            </a:r>
            <a:r>
              <a:rPr dirty="0"/>
              <a:t> </a:t>
            </a:r>
            <a:r>
              <a:rPr dirty="0" err="1"/>
              <a:t>modelos</a:t>
            </a:r>
            <a:r>
              <a:rPr dirty="0"/>
              <a:t> </a:t>
            </a:r>
            <a:r>
              <a:rPr dirty="0" err="1"/>
              <a:t>clásicos</a:t>
            </a:r>
            <a:r>
              <a:rPr dirty="0"/>
              <a:t> </a:t>
            </a:r>
            <a:r>
              <a:rPr dirty="0" err="1"/>
              <a:t>que</a:t>
            </a:r>
            <a:r>
              <a:rPr dirty="0"/>
              <a:t> </a:t>
            </a:r>
            <a:r>
              <a:rPr dirty="0" err="1"/>
              <a:t>ya</a:t>
            </a:r>
            <a:r>
              <a:rPr dirty="0"/>
              <a:t> </a:t>
            </a:r>
            <a:r>
              <a:rPr dirty="0" err="1"/>
              <a:t>entrenamos</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Trabajamos</a:t>
            </a:r>
            <a:r>
              <a:rPr dirty="0"/>
              <a:t> con 8 variables de entrada</a:t>
            </a:r>
            <a:r>
              <a:rPr lang="es-ES" dirty="0"/>
              <a:t>, donde:</a:t>
            </a:r>
          </a:p>
          <a:p>
            <a:pPr marL="171450" indent="-171450">
              <a:buFontTx/>
              <a:buChar char="-"/>
            </a:pPr>
            <a:r>
              <a:rPr lang="es-ES" dirty="0"/>
              <a:t>C</a:t>
            </a:r>
            <a:r>
              <a:rPr dirty="0" err="1"/>
              <a:t>inco</a:t>
            </a:r>
            <a:r>
              <a:rPr lang="es-ES" dirty="0"/>
              <a:t> son</a:t>
            </a:r>
            <a:r>
              <a:rPr dirty="0"/>
              <a:t> </a:t>
            </a:r>
            <a:r>
              <a:rPr dirty="0" err="1"/>
              <a:t>continuas</a:t>
            </a:r>
            <a:r>
              <a:rPr lang="es-ES" dirty="0"/>
              <a:t>, que son la </a:t>
            </a:r>
            <a:r>
              <a:rPr dirty="0" err="1"/>
              <a:t>temperatura</a:t>
            </a:r>
            <a:r>
              <a:rPr dirty="0"/>
              <a:t> de </a:t>
            </a:r>
            <a:r>
              <a:rPr dirty="0" err="1"/>
              <a:t>aire</a:t>
            </a:r>
            <a:r>
              <a:rPr dirty="0"/>
              <a:t> y de </a:t>
            </a:r>
            <a:r>
              <a:rPr dirty="0" err="1"/>
              <a:t>proceso</a:t>
            </a:r>
            <a:r>
              <a:rPr dirty="0"/>
              <a:t>, </a:t>
            </a:r>
            <a:r>
              <a:rPr dirty="0" err="1"/>
              <a:t>velocidad</a:t>
            </a:r>
            <a:r>
              <a:rPr dirty="0"/>
              <a:t>, torque y </a:t>
            </a:r>
            <a:r>
              <a:rPr dirty="0" err="1"/>
              <a:t>desgaste</a:t>
            </a:r>
            <a:r>
              <a:rPr dirty="0"/>
              <a:t> de </a:t>
            </a:r>
            <a:r>
              <a:rPr dirty="0" err="1"/>
              <a:t>herramienta</a:t>
            </a:r>
            <a:r>
              <a:rPr lang="es-ES" dirty="0"/>
              <a:t>, </a:t>
            </a:r>
          </a:p>
          <a:p>
            <a:pPr marL="171450" indent="-171450">
              <a:buFontTx/>
              <a:buChar char="-"/>
            </a:pPr>
            <a:r>
              <a:rPr lang="es-AR" dirty="0"/>
              <a:t>Y</a:t>
            </a:r>
            <a:r>
              <a:rPr lang="es-ES" dirty="0"/>
              <a:t>,</a:t>
            </a:r>
            <a:r>
              <a:rPr dirty="0"/>
              <a:t> </a:t>
            </a:r>
            <a:r>
              <a:rPr dirty="0" err="1"/>
              <a:t>el</a:t>
            </a:r>
            <a:r>
              <a:rPr dirty="0"/>
              <a:t> </a:t>
            </a:r>
            <a:r>
              <a:rPr dirty="0" err="1"/>
              <a:t>tipo</a:t>
            </a:r>
            <a:r>
              <a:rPr dirty="0"/>
              <a:t> de </a:t>
            </a:r>
            <a:r>
              <a:rPr dirty="0" err="1"/>
              <a:t>producto</a:t>
            </a:r>
            <a:r>
              <a:rPr dirty="0"/>
              <a:t> </a:t>
            </a:r>
            <a:r>
              <a:rPr dirty="0" err="1"/>
              <a:t>codificado</a:t>
            </a:r>
            <a:r>
              <a:rPr dirty="0"/>
              <a:t> </a:t>
            </a:r>
            <a:r>
              <a:rPr dirty="0" err="1"/>
              <a:t>en</a:t>
            </a:r>
            <a:r>
              <a:rPr dirty="0"/>
              <a:t> </a:t>
            </a:r>
            <a:r>
              <a:rPr dirty="0" err="1"/>
              <a:t>tres</a:t>
            </a:r>
            <a:r>
              <a:rPr dirty="0"/>
              <a:t> columnas</a:t>
            </a:r>
            <a:r>
              <a:rPr lang="es-ES" dirty="0"/>
              <a:t> con One-Hot</a:t>
            </a:r>
            <a:r>
              <a:rPr dirty="0"/>
              <a:t>. </a:t>
            </a:r>
            <a:endParaRPr lang="es-ES" dirty="0"/>
          </a:p>
          <a:p>
            <a:r>
              <a:rPr dirty="0"/>
              <a:t>El target es </a:t>
            </a:r>
            <a:r>
              <a:rPr dirty="0" err="1"/>
              <a:t>binario</a:t>
            </a:r>
            <a:r>
              <a:rPr dirty="0"/>
              <a:t>: </a:t>
            </a:r>
            <a:r>
              <a:rPr dirty="0" err="1"/>
              <a:t>falla</a:t>
            </a:r>
            <a:r>
              <a:rPr dirty="0"/>
              <a:t> o no </a:t>
            </a:r>
            <a:r>
              <a:rPr dirty="0" err="1"/>
              <a:t>falla</a:t>
            </a:r>
            <a:r>
              <a:rPr dirty="0"/>
              <a:t>. </a:t>
            </a:r>
            <a:endParaRPr lang="es-ES" dirty="0"/>
          </a:p>
          <a:p>
            <a:r>
              <a:rPr lang="es-ES" dirty="0"/>
              <a:t>Como se puede apreciar en el gráfico de torta, l</a:t>
            </a:r>
            <a:r>
              <a:rPr dirty="0"/>
              <a:t>as </a:t>
            </a:r>
            <a:r>
              <a:rPr dirty="0" err="1"/>
              <a:t>clases</a:t>
            </a:r>
            <a:r>
              <a:rPr dirty="0"/>
              <a:t> </a:t>
            </a:r>
            <a:r>
              <a:rPr dirty="0" err="1"/>
              <a:t>quedaron</a:t>
            </a:r>
            <a:r>
              <a:rPr dirty="0"/>
              <a:t> </a:t>
            </a:r>
            <a:r>
              <a:rPr dirty="0" err="1"/>
              <a:t>prácticamente</a:t>
            </a:r>
            <a:r>
              <a:rPr dirty="0"/>
              <a:t> </a:t>
            </a:r>
            <a:r>
              <a:rPr dirty="0" err="1"/>
              <a:t>balanceadas</a:t>
            </a:r>
            <a:r>
              <a:rPr lang="es-ES" dirty="0"/>
              <a:t> de forma natural</a:t>
            </a:r>
            <a:r>
              <a:rPr dirty="0"/>
              <a:t>, </a:t>
            </a:r>
            <a:r>
              <a:rPr dirty="0" err="1"/>
              <a:t>así</a:t>
            </a:r>
            <a:r>
              <a:rPr dirty="0"/>
              <a:t> </a:t>
            </a:r>
            <a:r>
              <a:rPr dirty="0" err="1"/>
              <a:t>que</a:t>
            </a:r>
            <a:r>
              <a:rPr dirty="0"/>
              <a:t> no </a:t>
            </a:r>
            <a:r>
              <a:rPr dirty="0" err="1"/>
              <a:t>aplicamos</a:t>
            </a:r>
            <a:r>
              <a:rPr dirty="0"/>
              <a:t> </a:t>
            </a:r>
            <a:r>
              <a:rPr dirty="0" err="1"/>
              <a:t>técnicas</a:t>
            </a:r>
            <a:r>
              <a:rPr dirty="0"/>
              <a:t> de </a:t>
            </a:r>
            <a:r>
              <a:rPr dirty="0" err="1"/>
              <a:t>balanceo</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Reutilizamos</a:t>
            </a:r>
            <a:r>
              <a:rPr dirty="0"/>
              <a:t> </a:t>
            </a:r>
            <a:r>
              <a:rPr dirty="0" err="1"/>
              <a:t>el</a:t>
            </a:r>
            <a:r>
              <a:rPr dirty="0"/>
              <a:t> </a:t>
            </a:r>
            <a:r>
              <a:rPr dirty="0" err="1"/>
              <a:t>mismo</a:t>
            </a:r>
            <a:r>
              <a:rPr dirty="0"/>
              <a:t> </a:t>
            </a:r>
            <a:r>
              <a:rPr dirty="0" err="1"/>
              <a:t>preprocesamiento</a:t>
            </a:r>
            <a:r>
              <a:rPr dirty="0"/>
              <a:t> del TP original</a:t>
            </a:r>
            <a:r>
              <a:rPr lang="es-ES" dirty="0"/>
              <a:t> de CDD</a:t>
            </a:r>
            <a:r>
              <a:rPr dirty="0"/>
              <a:t>: </a:t>
            </a:r>
            <a:r>
              <a:rPr dirty="0" err="1"/>
              <a:t>eliminamos</a:t>
            </a:r>
            <a:r>
              <a:rPr dirty="0"/>
              <a:t> outliers, </a:t>
            </a:r>
            <a:r>
              <a:rPr dirty="0" err="1"/>
              <a:t>imputamos</a:t>
            </a:r>
            <a:r>
              <a:rPr dirty="0"/>
              <a:t> </a:t>
            </a:r>
            <a:r>
              <a:rPr lang="es-ES" dirty="0"/>
              <a:t>datos </a:t>
            </a:r>
            <a:r>
              <a:rPr dirty="0" err="1"/>
              <a:t>faltantes</a:t>
            </a:r>
            <a:r>
              <a:rPr dirty="0"/>
              <a:t>, </a:t>
            </a:r>
            <a:r>
              <a:rPr dirty="0" err="1"/>
              <a:t>codificamos</a:t>
            </a:r>
            <a:r>
              <a:rPr dirty="0"/>
              <a:t> </a:t>
            </a:r>
            <a:r>
              <a:rPr dirty="0" err="1"/>
              <a:t>product_type</a:t>
            </a:r>
            <a:r>
              <a:rPr dirty="0"/>
              <a:t> con One-Hot </a:t>
            </a:r>
            <a:r>
              <a:rPr lang="es-ES" dirty="0"/>
              <a:t>(</a:t>
            </a:r>
            <a:r>
              <a:rPr dirty="0" err="1"/>
              <a:t>porque</a:t>
            </a:r>
            <a:r>
              <a:rPr dirty="0"/>
              <a:t> </a:t>
            </a:r>
            <a:r>
              <a:rPr lang="es-ES" dirty="0"/>
              <a:t>consideramos </a:t>
            </a:r>
            <a:r>
              <a:rPr dirty="0" err="1"/>
              <a:t>que</a:t>
            </a:r>
            <a:r>
              <a:rPr dirty="0"/>
              <a:t> es nominal, no ordinal</a:t>
            </a:r>
            <a:r>
              <a:rPr lang="es-ES" dirty="0"/>
              <a:t>) </a:t>
            </a:r>
            <a:r>
              <a:rPr dirty="0"/>
              <a:t>y </a:t>
            </a:r>
            <a:r>
              <a:rPr dirty="0" err="1"/>
              <a:t>estandarizamos</a:t>
            </a:r>
            <a:r>
              <a:rPr dirty="0"/>
              <a:t> con Z-score. </a:t>
            </a:r>
            <a:endParaRPr lang="es-ES" dirty="0"/>
          </a:p>
          <a:p>
            <a:r>
              <a:rPr lang="es-ES" dirty="0"/>
              <a:t>Se usan </a:t>
            </a:r>
            <a:r>
              <a:rPr dirty="0" err="1"/>
              <a:t>exactamente</a:t>
            </a:r>
            <a:r>
              <a:rPr dirty="0"/>
              <a:t> </a:t>
            </a:r>
            <a:r>
              <a:rPr dirty="0" err="1"/>
              <a:t>los</a:t>
            </a:r>
            <a:r>
              <a:rPr dirty="0"/>
              <a:t> </a:t>
            </a:r>
            <a:r>
              <a:rPr dirty="0" err="1"/>
              <a:t>mismos</a:t>
            </a:r>
            <a:r>
              <a:rPr dirty="0"/>
              <a:t> </a:t>
            </a:r>
            <a:r>
              <a:rPr dirty="0" err="1"/>
              <a:t>datos</a:t>
            </a:r>
            <a:r>
              <a:rPr dirty="0"/>
              <a:t> para </a:t>
            </a:r>
            <a:r>
              <a:rPr dirty="0" err="1"/>
              <a:t>todos</a:t>
            </a:r>
            <a:r>
              <a:rPr dirty="0"/>
              <a:t> </a:t>
            </a:r>
            <a:r>
              <a:rPr dirty="0" err="1"/>
              <a:t>los</a:t>
            </a:r>
            <a:r>
              <a:rPr dirty="0"/>
              <a:t> </a:t>
            </a:r>
            <a:r>
              <a:rPr dirty="0" err="1"/>
              <a:t>modelos</a:t>
            </a:r>
            <a:r>
              <a:rPr lang="es-ES" dirty="0"/>
              <a:t>,</a:t>
            </a:r>
            <a:r>
              <a:rPr dirty="0"/>
              <a:t> lo </a:t>
            </a:r>
            <a:r>
              <a:rPr dirty="0" err="1"/>
              <a:t>que</a:t>
            </a:r>
            <a:r>
              <a:rPr dirty="0"/>
              <a:t> </a:t>
            </a:r>
            <a:r>
              <a:rPr dirty="0" err="1"/>
              <a:t>hace</a:t>
            </a:r>
            <a:r>
              <a:rPr dirty="0"/>
              <a:t> </a:t>
            </a:r>
            <a:r>
              <a:rPr dirty="0" err="1"/>
              <a:t>justa</a:t>
            </a:r>
            <a:r>
              <a:rPr dirty="0"/>
              <a:t> la </a:t>
            </a:r>
            <a:r>
              <a:rPr dirty="0" err="1"/>
              <a:t>comparación</a:t>
            </a:r>
            <a:r>
              <a:rPr dirty="0"/>
              <a:t> </a:t>
            </a:r>
            <a:r>
              <a:rPr dirty="0" err="1"/>
              <a:t>que</a:t>
            </a:r>
            <a:r>
              <a:rPr dirty="0"/>
              <a:t> </a:t>
            </a:r>
            <a:r>
              <a:rPr dirty="0" err="1"/>
              <a:t>veremos</a:t>
            </a:r>
            <a:r>
              <a:rPr lang="es-ES" dirty="0"/>
              <a:t> entre ellos</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¿Por </a:t>
            </a:r>
            <a:r>
              <a:rPr dirty="0" err="1"/>
              <a:t>qué</a:t>
            </a:r>
            <a:r>
              <a:rPr dirty="0"/>
              <a:t> un </a:t>
            </a:r>
            <a:r>
              <a:rPr dirty="0" err="1"/>
              <a:t>Perceptrón</a:t>
            </a:r>
            <a:r>
              <a:rPr dirty="0"/>
              <a:t> </a:t>
            </a:r>
            <a:r>
              <a:rPr dirty="0" err="1"/>
              <a:t>Multicapa</a:t>
            </a:r>
            <a:r>
              <a:rPr dirty="0"/>
              <a:t>? </a:t>
            </a:r>
            <a:r>
              <a:rPr dirty="0" err="1"/>
              <a:t>Porque</a:t>
            </a:r>
            <a:r>
              <a:rPr dirty="0"/>
              <a:t>, a </a:t>
            </a:r>
            <a:r>
              <a:rPr dirty="0" err="1"/>
              <a:t>diferencia</a:t>
            </a:r>
            <a:r>
              <a:rPr dirty="0"/>
              <a:t> de </a:t>
            </a:r>
            <a:r>
              <a:rPr dirty="0" err="1"/>
              <a:t>los</a:t>
            </a:r>
            <a:r>
              <a:rPr dirty="0"/>
              <a:t> </a:t>
            </a:r>
            <a:r>
              <a:rPr dirty="0" err="1"/>
              <a:t>modelos</a:t>
            </a:r>
            <a:r>
              <a:rPr dirty="0"/>
              <a:t> </a:t>
            </a:r>
            <a:r>
              <a:rPr dirty="0" err="1"/>
              <a:t>lineales</a:t>
            </a:r>
            <a:r>
              <a:rPr dirty="0"/>
              <a:t>, </a:t>
            </a:r>
            <a:r>
              <a:rPr dirty="0" err="1"/>
              <a:t>aprende</a:t>
            </a:r>
            <a:r>
              <a:rPr dirty="0"/>
              <a:t> </a:t>
            </a:r>
            <a:r>
              <a:rPr dirty="0" err="1"/>
              <a:t>relaciones</a:t>
            </a:r>
            <a:r>
              <a:rPr dirty="0"/>
              <a:t> no </a:t>
            </a:r>
            <a:r>
              <a:rPr dirty="0" err="1"/>
              <a:t>lineales</a:t>
            </a:r>
            <a:r>
              <a:rPr dirty="0"/>
              <a:t> entre variables, y </a:t>
            </a:r>
            <a:r>
              <a:rPr dirty="0" err="1"/>
              <a:t>en</a:t>
            </a:r>
            <a:r>
              <a:rPr dirty="0"/>
              <a:t> </a:t>
            </a:r>
            <a:r>
              <a:rPr dirty="0" err="1"/>
              <a:t>el</a:t>
            </a:r>
            <a:r>
              <a:rPr dirty="0"/>
              <a:t> </a:t>
            </a:r>
            <a:r>
              <a:rPr lang="es-ES" dirty="0"/>
              <a:t>Análisis Exploratorio de Datos </a:t>
            </a:r>
            <a:r>
              <a:rPr dirty="0" err="1"/>
              <a:t>vimos</a:t>
            </a:r>
            <a:r>
              <a:rPr dirty="0"/>
              <a:t> </a:t>
            </a:r>
            <a:r>
              <a:rPr dirty="0" err="1"/>
              <a:t>interacciones</a:t>
            </a:r>
            <a:r>
              <a:rPr dirty="0"/>
              <a:t> </a:t>
            </a:r>
            <a:r>
              <a:rPr dirty="0" err="1"/>
              <a:t>complejas</a:t>
            </a:r>
            <a:r>
              <a:rPr lang="es-ES" dirty="0"/>
              <a:t> como que</a:t>
            </a:r>
            <a:r>
              <a:rPr dirty="0"/>
              <a:t> </a:t>
            </a:r>
            <a:r>
              <a:rPr dirty="0" err="1"/>
              <a:t>el</a:t>
            </a:r>
            <a:r>
              <a:rPr dirty="0"/>
              <a:t> torque bajo </a:t>
            </a:r>
            <a:r>
              <a:rPr dirty="0" err="1"/>
              <a:t>dispara</a:t>
            </a:r>
            <a:r>
              <a:rPr dirty="0"/>
              <a:t> la </a:t>
            </a:r>
            <a:r>
              <a:rPr dirty="0" err="1"/>
              <a:t>falla</a:t>
            </a:r>
            <a:r>
              <a:rPr dirty="0"/>
              <a:t>, la </a:t>
            </a:r>
            <a:r>
              <a:rPr dirty="0" err="1"/>
              <a:t>velocidad</a:t>
            </a:r>
            <a:r>
              <a:rPr dirty="0"/>
              <a:t> </a:t>
            </a:r>
            <a:r>
              <a:rPr dirty="0" err="1"/>
              <a:t>alta</a:t>
            </a:r>
            <a:r>
              <a:rPr dirty="0"/>
              <a:t> también, y </a:t>
            </a:r>
            <a:r>
              <a:rPr dirty="0" err="1"/>
              <a:t>el</a:t>
            </a:r>
            <a:r>
              <a:rPr dirty="0"/>
              <a:t> </a:t>
            </a:r>
            <a:r>
              <a:rPr dirty="0" err="1"/>
              <a:t>efecto</a:t>
            </a:r>
            <a:r>
              <a:rPr dirty="0"/>
              <a:t> </a:t>
            </a:r>
            <a:r>
              <a:rPr dirty="0" err="1"/>
              <a:t>depende</a:t>
            </a:r>
            <a:r>
              <a:rPr dirty="0"/>
              <a:t> del </a:t>
            </a:r>
            <a:r>
              <a:rPr dirty="0" err="1"/>
              <a:t>tipo</a:t>
            </a:r>
            <a:r>
              <a:rPr dirty="0"/>
              <a:t> de </a:t>
            </a:r>
            <a:r>
              <a:rPr dirty="0" err="1"/>
              <a:t>producto</a:t>
            </a:r>
            <a:r>
              <a:rPr dirty="0"/>
              <a:t>. </a:t>
            </a:r>
            <a:endParaRPr lang="es-ES" dirty="0"/>
          </a:p>
          <a:p>
            <a:r>
              <a:rPr dirty="0"/>
              <a:t>El MLP </a:t>
            </a:r>
            <a:r>
              <a:rPr dirty="0" err="1"/>
              <a:t>puede</a:t>
            </a:r>
            <a:r>
              <a:rPr dirty="0"/>
              <a:t> </a:t>
            </a:r>
            <a:r>
              <a:rPr dirty="0" err="1"/>
              <a:t>capturar</a:t>
            </a:r>
            <a:r>
              <a:rPr dirty="0"/>
              <a:t> </a:t>
            </a:r>
            <a:r>
              <a:rPr dirty="0" err="1"/>
              <a:t>esas</a:t>
            </a:r>
            <a:r>
              <a:rPr dirty="0"/>
              <a:t> </a:t>
            </a:r>
            <a:r>
              <a:rPr dirty="0" err="1"/>
              <a:t>combinaciones</a:t>
            </a:r>
            <a:r>
              <a:rPr dirty="0"/>
              <a:t> sin </a:t>
            </a:r>
            <a:r>
              <a:rPr dirty="0" err="1"/>
              <a:t>que</a:t>
            </a:r>
            <a:r>
              <a:rPr dirty="0"/>
              <a:t> se las </a:t>
            </a:r>
            <a:r>
              <a:rPr dirty="0" err="1"/>
              <a:t>indiquemos</a:t>
            </a:r>
            <a:r>
              <a:rPr lang="es-ES" dirty="0"/>
              <a:t> explícitamente</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s-ES" dirty="0"/>
              <a:t>El modelo fue diseñado considerando una</a:t>
            </a:r>
            <a:r>
              <a:rPr dirty="0"/>
              <a:t> </a:t>
            </a:r>
            <a:r>
              <a:rPr dirty="0" err="1"/>
              <a:t>simplicidad</a:t>
            </a:r>
            <a:r>
              <a:rPr dirty="0"/>
              <a:t> </a:t>
            </a:r>
            <a:r>
              <a:rPr dirty="0" err="1"/>
              <a:t>acorde</a:t>
            </a:r>
            <a:r>
              <a:rPr dirty="0"/>
              <a:t> al </a:t>
            </a:r>
            <a:r>
              <a:rPr dirty="0" err="1"/>
              <a:t>problema</a:t>
            </a:r>
            <a:r>
              <a:rPr dirty="0"/>
              <a:t>. Con solo 8 </a:t>
            </a:r>
            <a:r>
              <a:rPr lang="es-ES" dirty="0"/>
              <a:t>características</a:t>
            </a:r>
            <a:r>
              <a:rPr dirty="0"/>
              <a:t>, </a:t>
            </a:r>
            <a:r>
              <a:rPr dirty="0" err="1"/>
              <a:t>una</a:t>
            </a:r>
            <a:r>
              <a:rPr dirty="0"/>
              <a:t> red </a:t>
            </a:r>
            <a:r>
              <a:rPr dirty="0" err="1"/>
              <a:t>muy</a:t>
            </a:r>
            <a:r>
              <a:rPr dirty="0"/>
              <a:t> profunda solo </a:t>
            </a:r>
            <a:r>
              <a:rPr dirty="0" err="1"/>
              <a:t>agregaría</a:t>
            </a:r>
            <a:r>
              <a:rPr dirty="0"/>
              <a:t> </a:t>
            </a:r>
            <a:r>
              <a:rPr dirty="0" err="1"/>
              <a:t>sobreajuste</a:t>
            </a:r>
            <a:r>
              <a:rPr dirty="0"/>
              <a:t>. </a:t>
            </a:r>
            <a:endParaRPr lang="es-ES" dirty="0"/>
          </a:p>
          <a:p>
            <a:r>
              <a:rPr lang="es-ES" dirty="0"/>
              <a:t>Entonces, o</a:t>
            </a:r>
            <a:r>
              <a:rPr dirty="0" err="1"/>
              <a:t>ptamos</a:t>
            </a:r>
            <a:r>
              <a:rPr dirty="0"/>
              <a:t> </a:t>
            </a:r>
            <a:r>
              <a:rPr dirty="0" err="1"/>
              <a:t>por</a:t>
            </a:r>
            <a:r>
              <a:rPr dirty="0"/>
              <a:t> </a:t>
            </a:r>
            <a:r>
              <a:rPr dirty="0" err="1"/>
              <a:t>una</a:t>
            </a:r>
            <a:r>
              <a:rPr dirty="0"/>
              <a:t> arquitectura </a:t>
            </a:r>
            <a:r>
              <a:rPr dirty="0" err="1"/>
              <a:t>en</a:t>
            </a:r>
            <a:r>
              <a:rPr dirty="0"/>
              <a:t> </a:t>
            </a:r>
            <a:r>
              <a:rPr dirty="0" err="1"/>
              <a:t>embudo</a:t>
            </a:r>
            <a:r>
              <a:rPr dirty="0"/>
              <a:t>: la red </a:t>
            </a:r>
            <a:r>
              <a:rPr dirty="0" err="1"/>
              <a:t>comprime</a:t>
            </a:r>
            <a:r>
              <a:rPr dirty="0"/>
              <a:t> </a:t>
            </a:r>
            <a:r>
              <a:rPr dirty="0" err="1"/>
              <a:t>progresivamente</a:t>
            </a:r>
            <a:r>
              <a:rPr dirty="0"/>
              <a:t> la </a:t>
            </a:r>
            <a:r>
              <a:rPr dirty="0" err="1"/>
              <a:t>información</a:t>
            </a:r>
            <a:r>
              <a:rPr dirty="0"/>
              <a:t>, </a:t>
            </a:r>
            <a:r>
              <a:rPr dirty="0" err="1"/>
              <a:t>quedándose</a:t>
            </a:r>
            <a:r>
              <a:rPr dirty="0"/>
              <a:t> con </a:t>
            </a:r>
            <a:r>
              <a:rPr dirty="0" err="1"/>
              <a:t>los</a:t>
            </a:r>
            <a:r>
              <a:rPr dirty="0"/>
              <a:t> </a:t>
            </a:r>
            <a:r>
              <a:rPr dirty="0" err="1"/>
              <a:t>patrones</a:t>
            </a:r>
            <a:r>
              <a:rPr dirty="0"/>
              <a:t> </a:t>
            </a:r>
            <a:r>
              <a:rPr dirty="0" err="1"/>
              <a:t>que</a:t>
            </a:r>
            <a:r>
              <a:rPr dirty="0"/>
              <a:t> </a:t>
            </a:r>
            <a:r>
              <a:rPr dirty="0" err="1"/>
              <a:t>anticipan</a:t>
            </a:r>
            <a:r>
              <a:rPr dirty="0"/>
              <a:t> la </a:t>
            </a:r>
            <a:r>
              <a:rPr dirty="0" err="1"/>
              <a:t>falla</a:t>
            </a:r>
            <a:r>
              <a:rPr dirty="0"/>
              <a:t>. </a:t>
            </a:r>
            <a:endParaRPr lang="es-ES" dirty="0"/>
          </a:p>
          <a:p>
            <a:r>
              <a:rPr dirty="0"/>
              <a:t>Lo </a:t>
            </a:r>
            <a:r>
              <a:rPr dirty="0" err="1"/>
              <a:t>concreto</a:t>
            </a:r>
            <a:r>
              <a:rPr dirty="0"/>
              <a:t> lo </a:t>
            </a:r>
            <a:r>
              <a:rPr dirty="0" err="1"/>
              <a:t>explica</a:t>
            </a:r>
            <a:r>
              <a:rPr lang="es-ES" dirty="0" err="1"/>
              <a:t>rá</a:t>
            </a:r>
            <a:r>
              <a:rPr lang="es-ES" dirty="0"/>
              <a:t> </a:t>
            </a:r>
            <a:r>
              <a:rPr dirty="0"/>
              <a:t>mi </a:t>
            </a:r>
            <a:r>
              <a:rPr dirty="0" err="1"/>
              <a:t>compañero</a:t>
            </a:r>
            <a:r>
              <a:rPr lang="es-ES" dirty="0"/>
              <a:t> a continuación</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arquitectura: capa de entrada de 8 neuronas, una por feature; dos capas ocultas de 32 neuronas; y una única neurona de salida. Dos capas alcanzan para 8 variables; una sola salida basta porque es clasificación binaria. En total: apenas 1.377 parámetros, un modelo muy liviano.</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 las capas ocultas usamos ReLU: es el estándar moderno, evita el desvanecimiento del gradiente y es muy eficiente. En la salida usamos Sigmoid, que mapea el resultado al rango cero–uno, interpretándolo directamente como probabilidad de falla. No usamos Softmax porque eso aplica cuando hay varias clases de salida.</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Como pérdida elegimos binary cross-entropy, la función canónica para clasificación binaria: penaliza fuerte cuando el modelo está seguro y se equivoca. Para evitar sobreajuste contemplamos Dropout y regularización L2, dejando que la búsqueda automática decida cuánta regularización realmente hacía falta.</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 elegimos los hiperparámetros a mano. Usamos Keras Tuner con RandomSearch: 50 ensayos sobre un espacio de casi mil combinaciones —neuronas, learning rate, dropout, L2 y optimizador—. Optimizamos sobre val_loss, no accuracy, porque en fallas industriales nos importa estimar bien la probabilidad, no solo acertar la etiqueta.</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mejor modelo: optimizador Adam, learning rate 0.01, batch size 64, sin dropout ni L2 —la red era tan chica que no los necesitó—. Entrenamos con EarlyStopping para frenar al dejar de mejorar. Las curvas convergen bien, con una validación algo inestable, propia de un dataset acotado.</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Acá está el punto central del eje 2. Las variables crudas tienen escalas dispares: las RPM rondan los miles, las temperaturas apenas decenas. Una red neuronal aprende por descenso de gradiente, que es muy sensible a la escala: sin tratamiento, las RPM dominarían el aprendizaje y aplastarían a las demás variables.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Por eso aplicamos estandarización Z-score: media cero, desvío uno. El efecto en la red es directo: el gradiente se mueve en un terreno parejo, converge más rápido y estable, y todas las variables compiten en igualdad. Para el MLP esto no es opcional: es condición para que entrene bien.</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Comparado con la Parte 2, el contraste es claro. El MLP y KNN dependen de la escala. En cambio los árboles —Decision Tree y Random Forest— son invariantes: parten por umbrales, no por distancias, así que estandarizar no cambia sus resultados. Por eso el preprocesamiento es crítico para la red y casi indiferente para el ensamblado.</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El MLP </a:t>
            </a:r>
            <a:r>
              <a:rPr dirty="0" err="1"/>
              <a:t>rinde</a:t>
            </a:r>
            <a:r>
              <a:rPr dirty="0"/>
              <a:t> </a:t>
            </a:r>
            <a:r>
              <a:rPr dirty="0" err="1"/>
              <a:t>muy</a:t>
            </a:r>
            <a:r>
              <a:rPr dirty="0"/>
              <a:t> bien: 96% de accuracy, F1 de 0.96 y un AUC de 0.991. </a:t>
            </a:r>
            <a:r>
              <a:rPr dirty="0" err="1"/>
              <a:t>Ajustamos</a:t>
            </a:r>
            <a:r>
              <a:rPr dirty="0"/>
              <a:t> </a:t>
            </a:r>
            <a:r>
              <a:rPr dirty="0" err="1"/>
              <a:t>el</a:t>
            </a:r>
            <a:r>
              <a:rPr dirty="0"/>
              <a:t> umbral de </a:t>
            </a:r>
            <a:r>
              <a:rPr dirty="0" err="1"/>
              <a:t>decisión</a:t>
            </a:r>
            <a:r>
              <a:rPr dirty="0"/>
              <a:t> a 0.3 </a:t>
            </a:r>
            <a:r>
              <a:rPr dirty="0" err="1"/>
              <a:t>en</a:t>
            </a:r>
            <a:r>
              <a:rPr dirty="0"/>
              <a:t> </a:t>
            </a:r>
            <a:r>
              <a:rPr dirty="0" err="1"/>
              <a:t>lugar</a:t>
            </a:r>
            <a:r>
              <a:rPr dirty="0"/>
              <a:t> de 0.5, </a:t>
            </a:r>
            <a:r>
              <a:rPr dirty="0" err="1"/>
              <a:t>priorizando</a:t>
            </a:r>
            <a:r>
              <a:rPr dirty="0"/>
              <a:t> </a:t>
            </a:r>
            <a:r>
              <a:rPr dirty="0" err="1"/>
              <a:t>el</a:t>
            </a:r>
            <a:r>
              <a:rPr dirty="0"/>
              <a:t> recall: </a:t>
            </a:r>
            <a:r>
              <a:rPr dirty="0" err="1"/>
              <a:t>alcanzamos</a:t>
            </a:r>
            <a:r>
              <a:rPr dirty="0"/>
              <a:t> 98% de </a:t>
            </a:r>
            <a:r>
              <a:rPr dirty="0" err="1"/>
              <a:t>fallas</a:t>
            </a:r>
            <a:r>
              <a:rPr dirty="0"/>
              <a:t> </a:t>
            </a:r>
            <a:r>
              <a:rPr dirty="0" err="1"/>
              <a:t>detectadas</a:t>
            </a:r>
            <a:r>
              <a:rPr dirty="0"/>
              <a:t>. En </a:t>
            </a:r>
            <a:r>
              <a:rPr dirty="0" err="1"/>
              <a:t>mantenimiento</a:t>
            </a:r>
            <a:r>
              <a:rPr dirty="0"/>
              <a:t>, </a:t>
            </a:r>
            <a:r>
              <a:rPr dirty="0" err="1"/>
              <a:t>dejar</a:t>
            </a:r>
            <a:r>
              <a:rPr dirty="0"/>
              <a:t> pasar </a:t>
            </a:r>
            <a:r>
              <a:rPr dirty="0" err="1"/>
              <a:t>una</a:t>
            </a:r>
            <a:r>
              <a:rPr dirty="0"/>
              <a:t> </a:t>
            </a:r>
            <a:r>
              <a:rPr dirty="0" err="1"/>
              <a:t>falla</a:t>
            </a:r>
            <a:r>
              <a:rPr dirty="0"/>
              <a:t> real es </a:t>
            </a:r>
            <a:r>
              <a:rPr dirty="0" err="1"/>
              <a:t>mucho</a:t>
            </a:r>
            <a:r>
              <a:rPr dirty="0"/>
              <a:t> </a:t>
            </a:r>
            <a:r>
              <a:rPr dirty="0" err="1"/>
              <a:t>más</a:t>
            </a:r>
            <a:r>
              <a:rPr dirty="0"/>
              <a:t> </a:t>
            </a:r>
            <a:r>
              <a:rPr dirty="0" err="1"/>
              <a:t>caro</a:t>
            </a:r>
            <a:r>
              <a:rPr dirty="0"/>
              <a:t> </a:t>
            </a:r>
            <a:r>
              <a:rPr dirty="0" err="1"/>
              <a:t>que</a:t>
            </a:r>
            <a:r>
              <a:rPr dirty="0"/>
              <a:t> </a:t>
            </a:r>
            <a:r>
              <a:rPr dirty="0" err="1"/>
              <a:t>una</a:t>
            </a:r>
            <a:r>
              <a:rPr dirty="0"/>
              <a:t> falsa </a:t>
            </a:r>
            <a:r>
              <a:rPr dirty="0" err="1"/>
              <a:t>alarma</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Puestos en una tabla: Naive Bayes queda atrás con 0.84. KNN y Árbol —los modelos base— rondan 0.95–0.96. El MLP llega a 0.96 con AUC 0.991. Y el ensamblado, Random Forest, lidera con 0.972 y AUC 0.997. El detalle clave que retoma mi compañero: la red, pese a su complejidad, no supera al ensamblado.</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Comparemos de frente el MLP con el mejor clásico. Random Forest gana en todas las métricas —accuracy, F1 y AUC—, aunque por un margen estrecho. Es un resultado revelador: el modelo más fácil de explicar —un conjunto de árboles— iguala o supera a la red neuronal en este problema.</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Entonces, la pregunta de la consigna: ¿la mayor complejidad del MLP se justifica? Para este problema, no. Exige estandarización obligatoria, ajuste de muchos hiperparámetros y un entrenamiento más delicado, y aun así no mejora al ensamblado. La complejidad solo se paga cuando entrega una ventaja clara, y aquí no la hay.</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otro eje de decisión es la interpretabilidad. El MLP es una caja negra: predice bien, pero no explica por qué. Un árbol o un Random Forest dan reglas e importancia de cada variable. En una planta, un técnico necesita saber qué condición disparó la alarma para actuar, no solo recibir un número.</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Por eso, para una implementación real en planta, elegimos Random Forest: mejor performance, robustez e importancia de variables que respalda cada predicción. El costo de reentrenar, 3,7 segundos, es irrelevante frente a esa ventaja. La red queda como alternativa válida, pero no como la opción óptima aquí.</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 síntesis: el MLP es potente y exige un preprocesamiento cuidadoso, pero más complejidad no garantizó mejores resultados. El criterio ganó: elegimos el modelo que combina precisión e interpretabilidad para un entorno industrial real. Gracias —Gaitán, Debona, Agüero y Ocampo.</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55448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99794"/>
            <a:ext cx="10698480" cy="646331"/>
          </a:xfrm>
          <a:prstGeom prst="rect">
            <a:avLst/>
          </a:prstGeom>
          <a:noFill/>
        </p:spPr>
        <p:txBody>
          <a:bodyPr wrap="square" anchor="ctr">
            <a:spAutoFit/>
          </a:bodyPr>
          <a:lstStyle/>
          <a:p>
            <a:pPr algn="l">
              <a:spcAft>
                <a:spcPts val="400"/>
              </a:spcAft>
            </a:pPr>
            <a:r>
              <a:rPr sz="3600" b="1" i="0" dirty="0" err="1">
                <a:solidFill>
                  <a:srgbClr val="FFFFFF"/>
                </a:solidFill>
                <a:latin typeface="Segoe UI"/>
              </a:rPr>
              <a:t>Mantenimiento</a:t>
            </a:r>
            <a:r>
              <a:rPr sz="3600" b="1" i="0" dirty="0">
                <a:solidFill>
                  <a:srgbClr val="FFFFFF"/>
                </a:solidFill>
                <a:latin typeface="Segoe UI"/>
              </a:rPr>
              <a:t> </a:t>
            </a:r>
            <a:r>
              <a:rPr sz="3600" b="1" i="0" dirty="0" err="1">
                <a:solidFill>
                  <a:srgbClr val="FFFFFF"/>
                </a:solidFill>
                <a:latin typeface="Segoe UI"/>
              </a:rPr>
              <a:t>Predictivo</a:t>
            </a:r>
            <a:r>
              <a:rPr sz="3600" b="1" i="0" dirty="0">
                <a:solidFill>
                  <a:srgbClr val="FFFFFF"/>
                </a:solidFill>
                <a:latin typeface="Segoe UI"/>
              </a:rPr>
              <a:t> Industrial</a:t>
            </a:r>
          </a:p>
        </p:txBody>
      </p:sp>
      <p:sp>
        <p:nvSpPr>
          <p:cNvPr id="4" name="TextBox 3"/>
          <p:cNvSpPr txBox="1"/>
          <p:nvPr/>
        </p:nvSpPr>
        <p:spPr>
          <a:xfrm>
            <a:off x="731520" y="2194560"/>
            <a:ext cx="10698480" cy="2377440"/>
          </a:xfrm>
          <a:prstGeom prst="rect">
            <a:avLst/>
          </a:prstGeom>
          <a:noFill/>
        </p:spPr>
        <p:txBody>
          <a:bodyPr wrap="square" anchor="t">
            <a:spAutoFit/>
          </a:bodyPr>
          <a:lstStyle/>
          <a:p>
            <a:pPr algn="l">
              <a:spcAft>
                <a:spcPts val="1800"/>
              </a:spcAft>
            </a:pPr>
            <a:r>
              <a:rPr sz="2200" b="1" i="0" dirty="0">
                <a:solidFill>
                  <a:srgbClr val="222B36"/>
                </a:solidFill>
                <a:latin typeface="Segoe UI"/>
              </a:rPr>
              <a:t>¿Una red neuronal </a:t>
            </a:r>
            <a:r>
              <a:rPr sz="2200" b="1" i="0" dirty="0" err="1">
                <a:solidFill>
                  <a:srgbClr val="222B36"/>
                </a:solidFill>
                <a:latin typeface="Segoe UI"/>
              </a:rPr>
              <a:t>predice</a:t>
            </a:r>
            <a:r>
              <a:rPr sz="2200" b="1" i="0" dirty="0">
                <a:solidFill>
                  <a:srgbClr val="222B36"/>
                </a:solidFill>
                <a:latin typeface="Segoe UI"/>
              </a:rPr>
              <a:t> </a:t>
            </a:r>
            <a:r>
              <a:rPr sz="2200" b="1" i="0" dirty="0" err="1">
                <a:solidFill>
                  <a:srgbClr val="222B36"/>
                </a:solidFill>
                <a:latin typeface="Segoe UI"/>
              </a:rPr>
              <a:t>mejor</a:t>
            </a:r>
            <a:r>
              <a:rPr sz="2200" b="1" i="0" dirty="0">
                <a:solidFill>
                  <a:srgbClr val="222B36"/>
                </a:solidFill>
                <a:latin typeface="Segoe UI"/>
              </a:rPr>
              <a:t> la </a:t>
            </a:r>
            <a:r>
              <a:rPr sz="2200" b="1" i="0" dirty="0" err="1">
                <a:solidFill>
                  <a:srgbClr val="222B36"/>
                </a:solidFill>
                <a:latin typeface="Segoe UI"/>
              </a:rPr>
              <a:t>falla</a:t>
            </a:r>
            <a:r>
              <a:rPr sz="2200" b="1" i="0" dirty="0">
                <a:solidFill>
                  <a:srgbClr val="222B36"/>
                </a:solidFill>
                <a:latin typeface="Segoe UI"/>
              </a:rPr>
              <a:t> </a:t>
            </a:r>
            <a:r>
              <a:rPr sz="2200" b="1" i="0" dirty="0" err="1">
                <a:solidFill>
                  <a:srgbClr val="222B36"/>
                </a:solidFill>
                <a:latin typeface="Segoe UI"/>
              </a:rPr>
              <a:t>que</a:t>
            </a:r>
            <a:r>
              <a:rPr sz="2200" b="1" i="0" dirty="0">
                <a:solidFill>
                  <a:srgbClr val="222B36"/>
                </a:solidFill>
                <a:latin typeface="Segoe UI"/>
              </a:rPr>
              <a:t> </a:t>
            </a:r>
            <a:r>
              <a:rPr sz="2200" b="1" i="0" dirty="0" err="1">
                <a:solidFill>
                  <a:srgbClr val="222B36"/>
                </a:solidFill>
                <a:latin typeface="Segoe UI"/>
              </a:rPr>
              <a:t>los</a:t>
            </a:r>
            <a:r>
              <a:rPr sz="2200" b="1" i="0" dirty="0">
                <a:solidFill>
                  <a:srgbClr val="222B36"/>
                </a:solidFill>
                <a:latin typeface="Segoe UI"/>
              </a:rPr>
              <a:t> </a:t>
            </a:r>
            <a:r>
              <a:rPr sz="2200" b="1" i="0" dirty="0" err="1">
                <a:solidFill>
                  <a:srgbClr val="222B36"/>
                </a:solidFill>
                <a:latin typeface="Segoe UI"/>
              </a:rPr>
              <a:t>modelos</a:t>
            </a:r>
            <a:r>
              <a:rPr sz="2200" b="1" i="0" dirty="0">
                <a:solidFill>
                  <a:srgbClr val="222B36"/>
                </a:solidFill>
                <a:latin typeface="Segoe UI"/>
              </a:rPr>
              <a:t> </a:t>
            </a:r>
            <a:r>
              <a:rPr sz="2200" b="1" i="0" dirty="0" err="1">
                <a:solidFill>
                  <a:srgbClr val="222B36"/>
                </a:solidFill>
                <a:latin typeface="Segoe UI"/>
              </a:rPr>
              <a:t>clásicos</a:t>
            </a:r>
            <a:r>
              <a:rPr sz="2200" b="1" i="0" dirty="0">
                <a:solidFill>
                  <a:srgbClr val="222B36"/>
                </a:solidFill>
                <a:latin typeface="Segoe UI"/>
              </a:rPr>
              <a:t>?</a:t>
            </a:r>
          </a:p>
          <a:p>
            <a:pPr algn="l">
              <a:spcAft>
                <a:spcPts val="800"/>
              </a:spcAft>
            </a:pPr>
            <a:r>
              <a:rPr sz="1800" b="0" i="0" dirty="0">
                <a:solidFill>
                  <a:srgbClr val="222B36"/>
                </a:solidFill>
                <a:latin typeface="Segoe UI"/>
              </a:rPr>
              <a:t>Equipo:  Gaitán · Debona · Agüero · Ocampo</a:t>
            </a:r>
          </a:p>
          <a:p>
            <a:pPr algn="l">
              <a:spcAft>
                <a:spcPts val="400"/>
              </a:spcAft>
            </a:pPr>
            <a:r>
              <a:rPr sz="1400" b="0" i="0" dirty="0">
                <a:solidFill>
                  <a:srgbClr val="6B7480"/>
                </a:solidFill>
                <a:latin typeface="Segoe UI"/>
              </a:rPr>
              <a:t>Ciencia de Datos / </a:t>
            </a:r>
            <a:r>
              <a:rPr sz="1400" b="0" i="0" dirty="0" err="1">
                <a:solidFill>
                  <a:srgbClr val="6B7480"/>
                </a:solidFill>
                <a:latin typeface="Segoe UI"/>
              </a:rPr>
              <a:t>Inteligencia</a:t>
            </a:r>
            <a:r>
              <a:rPr sz="1400" b="0" i="0" dirty="0">
                <a:solidFill>
                  <a:srgbClr val="6B7480"/>
                </a:solidFill>
                <a:latin typeface="Segoe UI"/>
              </a:rPr>
              <a:t> Artificial — UTN FRSF — 2026, 1er </a:t>
            </a:r>
            <a:r>
              <a:rPr sz="1400" b="0" i="0" dirty="0" err="1">
                <a:solidFill>
                  <a:srgbClr val="6B7480"/>
                </a:solidFill>
                <a:latin typeface="Segoe UI"/>
              </a:rPr>
              <a:t>Cuatrimestre</a:t>
            </a:r>
            <a:endParaRPr sz="1400" b="0" i="0" dirty="0">
              <a:solidFill>
                <a:srgbClr val="6B7480"/>
              </a:solidFill>
              <a:latin typeface="Segoe UI"/>
            </a:endParaRPr>
          </a:p>
        </p:txBody>
      </p:sp>
      <p:sp>
        <p:nvSpPr>
          <p:cNvPr id="5" name="Rounded Rectangle 4"/>
          <p:cNvSpPr/>
          <p:nvPr/>
        </p:nvSpPr>
        <p:spPr>
          <a:xfrm>
            <a:off x="731520" y="4800600"/>
            <a:ext cx="10698480" cy="82296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wrap="square" tIns="25400" bIns="25400" rtlCol="0" anchor="ctr"/>
          <a:lstStyle/>
          <a:p>
            <a:pPr algn="ctr">
              <a:spcAft>
                <a:spcPts val="400"/>
              </a:spcAft>
            </a:pPr>
            <a:r>
              <a:rPr lang="es-ES" sz="1600" dirty="0">
                <a:solidFill>
                  <a:schemeClr val="tx1"/>
                </a:solidFill>
                <a:latin typeface="Segoe UI"/>
              </a:rPr>
              <a:t>Extensión del TP1 — Incorporación de un Perceptrón Multicapa (MLP)</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457200" y="6446520"/>
            <a:ext cx="11247120" cy="320040"/>
          </a:xfrm>
          <a:prstGeom prst="rect">
            <a:avLst/>
          </a:prstGeom>
          <a:noFill/>
        </p:spPr>
        <p:txBody>
          <a:bodyPr wrap="square" anchor="t">
            <a:spAutoFit/>
          </a:bodyPr>
          <a:lstStyle/>
          <a:p>
            <a:pPr algn="r"/>
            <a:r>
              <a:rPr sz="1000" dirty="0" err="1">
                <a:solidFill>
                  <a:srgbClr val="6B7480"/>
                </a:solidFill>
                <a:latin typeface="Segoe UI"/>
              </a:rPr>
              <a:t>Diapositiva</a:t>
            </a:r>
            <a:r>
              <a:rPr sz="1000" dirty="0">
                <a:solidFill>
                  <a:srgbClr val="6B7480"/>
                </a:solidFill>
                <a:latin typeface="Segoe UI"/>
              </a:rPr>
              <a:t> 2 / 20</a:t>
            </a:r>
          </a:p>
        </p:txBody>
      </p:sp>
      <p:sp>
        <p:nvSpPr>
          <p:cNvPr id="2" name="Rectangle 1"/>
          <p:cNvSpPr/>
          <p:nvPr/>
        </p:nvSpPr>
        <p:spPr>
          <a:xfrm>
            <a:off x="0" y="0"/>
            <a:ext cx="146304" cy="68580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10896"/>
            <a:ext cx="10058400" cy="914400"/>
          </a:xfrm>
          <a:prstGeom prst="rect">
            <a:avLst/>
          </a:prstGeom>
          <a:noFill/>
        </p:spPr>
        <p:txBody>
          <a:bodyPr wrap="square" anchor="t">
            <a:spAutoFit/>
          </a:bodyPr>
          <a:lstStyle/>
          <a:p>
            <a:pPr algn="l">
              <a:spcAft>
                <a:spcPts val="400"/>
              </a:spcAft>
            </a:pPr>
            <a:r>
              <a:rPr sz="2800" b="1" i="0">
                <a:solidFill>
                  <a:srgbClr val="2E86C1"/>
                </a:solidFill>
                <a:latin typeface="Segoe UI"/>
              </a:rPr>
              <a:t>El dato y el target</a:t>
            </a:r>
          </a:p>
        </p:txBody>
      </p:sp>
      <p:pic>
        <p:nvPicPr>
          <p:cNvPr id="6" name="Picture 5" descr="cdd_02_cell15.png"/>
          <p:cNvPicPr>
            <a:picLocks noChangeAspect="1"/>
          </p:cNvPicPr>
          <p:nvPr/>
        </p:nvPicPr>
        <p:blipFill>
          <a:blip r:embed="rId3"/>
          <a:stretch>
            <a:fillRect/>
          </a:stretch>
        </p:blipFill>
        <p:spPr>
          <a:xfrm>
            <a:off x="457200" y="1793682"/>
            <a:ext cx="7315200" cy="3270636"/>
          </a:xfrm>
          <a:prstGeom prst="rect">
            <a:avLst/>
          </a:prstGeom>
          <a:ln w="9525">
            <a:solidFill>
              <a:srgbClr val="DDDDDD"/>
            </a:solidFill>
          </a:ln>
        </p:spPr>
      </p:pic>
      <p:sp>
        <p:nvSpPr>
          <p:cNvPr id="7" name="TextBox 6"/>
          <p:cNvSpPr txBox="1"/>
          <p:nvPr/>
        </p:nvSpPr>
        <p:spPr>
          <a:xfrm>
            <a:off x="8043768" y="2273710"/>
            <a:ext cx="3971447" cy="2118529"/>
          </a:xfrm>
          <a:prstGeom prst="rect">
            <a:avLst/>
          </a:prstGeom>
          <a:noFill/>
        </p:spPr>
        <p:txBody>
          <a:bodyPr wrap="square" anchor="t">
            <a:spAutoFit/>
          </a:bodyPr>
          <a:lstStyle/>
          <a:p>
            <a:pPr algn="l">
              <a:spcAft>
                <a:spcPts val="800"/>
              </a:spcAft>
            </a:pPr>
            <a:r>
              <a:rPr sz="1500" b="1" i="0" dirty="0">
                <a:solidFill>
                  <a:srgbClr val="222B36"/>
                </a:solidFill>
                <a:latin typeface="Segoe UI"/>
              </a:rPr>
              <a:t>•  8 variables de entrada</a:t>
            </a:r>
          </a:p>
          <a:p>
            <a:pPr algn="l">
              <a:spcAft>
                <a:spcPts val="800"/>
              </a:spcAft>
            </a:pPr>
            <a:r>
              <a:rPr sz="1500" b="0" i="0" dirty="0">
                <a:solidFill>
                  <a:srgbClr val="222B36"/>
                </a:solidFill>
                <a:latin typeface="Segoe UI"/>
              </a:rPr>
              <a:t>•  5 </a:t>
            </a:r>
            <a:r>
              <a:rPr sz="1500" b="0" i="0" dirty="0" err="1">
                <a:solidFill>
                  <a:srgbClr val="222B36"/>
                </a:solidFill>
                <a:latin typeface="Segoe UI"/>
              </a:rPr>
              <a:t>continuas</a:t>
            </a:r>
            <a:r>
              <a:rPr sz="1500" b="0" i="0" dirty="0">
                <a:solidFill>
                  <a:srgbClr val="222B36"/>
                </a:solidFill>
                <a:latin typeface="Segoe UI"/>
              </a:rPr>
              <a:t>: </a:t>
            </a:r>
            <a:r>
              <a:rPr sz="1500" b="0" i="0" dirty="0" err="1">
                <a:solidFill>
                  <a:srgbClr val="222B36"/>
                </a:solidFill>
                <a:latin typeface="Segoe UI"/>
              </a:rPr>
              <a:t>temperatura</a:t>
            </a:r>
            <a:r>
              <a:rPr sz="1500" b="0" i="0" dirty="0">
                <a:solidFill>
                  <a:srgbClr val="222B36"/>
                </a:solidFill>
                <a:latin typeface="Segoe UI"/>
              </a:rPr>
              <a:t> de </a:t>
            </a:r>
            <a:r>
              <a:rPr sz="1500" b="0" i="0" dirty="0" err="1">
                <a:solidFill>
                  <a:srgbClr val="222B36"/>
                </a:solidFill>
                <a:latin typeface="Segoe UI"/>
              </a:rPr>
              <a:t>aire</a:t>
            </a:r>
            <a:r>
              <a:rPr sz="1500" b="0" i="0" dirty="0">
                <a:solidFill>
                  <a:srgbClr val="222B36"/>
                </a:solidFill>
                <a:latin typeface="Segoe UI"/>
              </a:rPr>
              <a:t> y de </a:t>
            </a:r>
            <a:r>
              <a:rPr sz="1500" b="0" i="0" dirty="0" err="1">
                <a:solidFill>
                  <a:srgbClr val="222B36"/>
                </a:solidFill>
                <a:latin typeface="Segoe UI"/>
              </a:rPr>
              <a:t>proceso</a:t>
            </a:r>
            <a:r>
              <a:rPr sz="1500" b="0" i="0" dirty="0">
                <a:solidFill>
                  <a:srgbClr val="222B36"/>
                </a:solidFill>
                <a:latin typeface="Segoe UI"/>
              </a:rPr>
              <a:t>, </a:t>
            </a:r>
            <a:r>
              <a:rPr sz="1500" b="0" i="0" dirty="0" err="1">
                <a:solidFill>
                  <a:srgbClr val="222B36"/>
                </a:solidFill>
                <a:latin typeface="Segoe UI"/>
              </a:rPr>
              <a:t>velocidad</a:t>
            </a:r>
            <a:r>
              <a:rPr sz="1500" b="0" i="0" dirty="0">
                <a:solidFill>
                  <a:srgbClr val="222B36"/>
                </a:solidFill>
                <a:latin typeface="Segoe UI"/>
              </a:rPr>
              <a:t>, torque y </a:t>
            </a:r>
            <a:r>
              <a:rPr sz="1500" b="0" i="0" dirty="0" err="1">
                <a:solidFill>
                  <a:srgbClr val="222B36"/>
                </a:solidFill>
                <a:latin typeface="Segoe UI"/>
              </a:rPr>
              <a:t>desgaste</a:t>
            </a:r>
            <a:endParaRPr sz="1500" b="0" i="0" dirty="0">
              <a:solidFill>
                <a:srgbClr val="222B36"/>
              </a:solidFill>
              <a:latin typeface="Segoe UI"/>
            </a:endParaRPr>
          </a:p>
          <a:p>
            <a:pPr algn="l">
              <a:spcAft>
                <a:spcPts val="800"/>
              </a:spcAft>
            </a:pPr>
            <a:r>
              <a:rPr sz="1500" b="0" i="0" dirty="0">
                <a:solidFill>
                  <a:srgbClr val="222B36"/>
                </a:solidFill>
                <a:latin typeface="Segoe UI"/>
              </a:rPr>
              <a:t>•  Tipo de </a:t>
            </a:r>
            <a:r>
              <a:rPr sz="1500" b="0" i="0" dirty="0" err="1">
                <a:solidFill>
                  <a:srgbClr val="222B36"/>
                </a:solidFill>
                <a:latin typeface="Segoe UI"/>
              </a:rPr>
              <a:t>producto</a:t>
            </a:r>
            <a:r>
              <a:rPr sz="1500" b="0" i="0" dirty="0">
                <a:solidFill>
                  <a:srgbClr val="222B36"/>
                </a:solidFill>
                <a:latin typeface="Segoe UI"/>
              </a:rPr>
              <a:t> → 3 columnas (One-Hot)</a:t>
            </a:r>
          </a:p>
          <a:p>
            <a:pPr algn="l">
              <a:spcAft>
                <a:spcPts val="800"/>
              </a:spcAft>
            </a:pPr>
            <a:r>
              <a:rPr sz="1500" b="1" i="0" dirty="0">
                <a:solidFill>
                  <a:srgbClr val="222B36"/>
                </a:solidFill>
                <a:latin typeface="Segoe UI"/>
              </a:rPr>
              <a:t>•  Target </a:t>
            </a:r>
            <a:r>
              <a:rPr sz="1500" b="1" i="0" dirty="0" err="1">
                <a:solidFill>
                  <a:srgbClr val="222B36"/>
                </a:solidFill>
                <a:latin typeface="Segoe UI"/>
              </a:rPr>
              <a:t>binario</a:t>
            </a:r>
            <a:r>
              <a:rPr sz="1500" b="1" i="0" dirty="0">
                <a:solidFill>
                  <a:srgbClr val="222B36"/>
                </a:solidFill>
                <a:latin typeface="Segoe UI"/>
              </a:rPr>
              <a:t>: </a:t>
            </a:r>
            <a:r>
              <a:rPr sz="1500" b="1" i="0" dirty="0" err="1">
                <a:solidFill>
                  <a:srgbClr val="222B36"/>
                </a:solidFill>
                <a:latin typeface="Segoe UI"/>
              </a:rPr>
              <a:t>falla</a:t>
            </a:r>
            <a:r>
              <a:rPr sz="1500" b="1" i="0" dirty="0">
                <a:solidFill>
                  <a:srgbClr val="222B36"/>
                </a:solidFill>
                <a:latin typeface="Segoe UI"/>
              </a:rPr>
              <a:t> / no </a:t>
            </a:r>
            <a:r>
              <a:rPr sz="1500" b="1" i="0" dirty="0" err="1">
                <a:solidFill>
                  <a:srgbClr val="222B36"/>
                </a:solidFill>
                <a:latin typeface="Segoe UI"/>
              </a:rPr>
              <a:t>falla</a:t>
            </a:r>
            <a:endParaRPr sz="1500" b="1" i="0" dirty="0">
              <a:solidFill>
                <a:srgbClr val="222B36"/>
              </a:solidFill>
              <a:latin typeface="Segoe UI"/>
            </a:endParaRPr>
          </a:p>
          <a:p>
            <a:pPr algn="l">
              <a:spcAft>
                <a:spcPts val="800"/>
              </a:spcAft>
            </a:pPr>
            <a:r>
              <a:rPr sz="1500" b="1" i="0" dirty="0">
                <a:solidFill>
                  <a:srgbClr val="222B36"/>
                </a:solidFill>
                <a:latin typeface="Segoe UI"/>
              </a:rPr>
              <a:t>•  </a:t>
            </a:r>
            <a:r>
              <a:rPr sz="1500" b="1" i="0" dirty="0" err="1">
                <a:solidFill>
                  <a:srgbClr val="222B36"/>
                </a:solidFill>
                <a:latin typeface="Segoe UI"/>
              </a:rPr>
              <a:t>Clases</a:t>
            </a:r>
            <a:r>
              <a:rPr sz="1500" b="1" i="0" dirty="0">
                <a:solidFill>
                  <a:srgbClr val="222B36"/>
                </a:solidFill>
                <a:latin typeface="Segoe UI"/>
              </a:rPr>
              <a:t> </a:t>
            </a:r>
            <a:r>
              <a:rPr sz="1500" b="1" i="0" dirty="0" err="1">
                <a:solidFill>
                  <a:srgbClr val="222B36"/>
                </a:solidFill>
                <a:latin typeface="Segoe UI"/>
              </a:rPr>
              <a:t>balanceadas</a:t>
            </a:r>
            <a:r>
              <a:rPr sz="1500" b="1" i="0" dirty="0">
                <a:solidFill>
                  <a:srgbClr val="222B36"/>
                </a:solidFill>
                <a:latin typeface="Segoe UI"/>
              </a:rPr>
              <a:t> (~51,5% </a:t>
            </a:r>
            <a:r>
              <a:rPr sz="1500" b="1" i="0" dirty="0" err="1">
                <a:solidFill>
                  <a:srgbClr val="222B36"/>
                </a:solidFill>
                <a:latin typeface="Segoe UI"/>
              </a:rPr>
              <a:t>falla</a:t>
            </a:r>
            <a:r>
              <a:rPr sz="1500" b="1" i="0" dirty="0">
                <a:solidFill>
                  <a:srgbClr val="222B36"/>
                </a:solidFill>
                <a:latin typeface="Segoe UI"/>
              </a:rPr>
              <a:t>) → sin </a:t>
            </a:r>
            <a:r>
              <a:rPr sz="1500" b="1" i="0" dirty="0" err="1">
                <a:solidFill>
                  <a:srgbClr val="222B36"/>
                </a:solidFill>
                <a:latin typeface="Segoe UI"/>
              </a:rPr>
              <a:t>técnicas</a:t>
            </a:r>
            <a:r>
              <a:rPr sz="1500" b="1" i="0" dirty="0">
                <a:solidFill>
                  <a:srgbClr val="222B36"/>
                </a:solidFill>
                <a:latin typeface="Segoe UI"/>
              </a:rPr>
              <a:t> de </a:t>
            </a:r>
            <a:r>
              <a:rPr sz="1500" b="1" i="0" dirty="0" err="1">
                <a:solidFill>
                  <a:srgbClr val="222B36"/>
                </a:solidFill>
                <a:latin typeface="Segoe UI"/>
              </a:rPr>
              <a:t>balanceo</a:t>
            </a:r>
            <a:endParaRPr sz="1500" b="1" i="0" dirty="0">
              <a:solidFill>
                <a:srgbClr val="222B36"/>
              </a:solidFill>
              <a:latin typeface="Segoe UI"/>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10896"/>
            <a:ext cx="10058400" cy="914400"/>
          </a:xfrm>
          <a:prstGeom prst="rect">
            <a:avLst/>
          </a:prstGeom>
          <a:noFill/>
        </p:spPr>
        <p:txBody>
          <a:bodyPr wrap="square" anchor="t">
            <a:spAutoFit/>
          </a:bodyPr>
          <a:lstStyle/>
          <a:p>
            <a:pPr algn="l">
              <a:spcAft>
                <a:spcPts val="400"/>
              </a:spcAft>
            </a:pPr>
            <a:r>
              <a:rPr sz="2800" b="1" i="0">
                <a:solidFill>
                  <a:srgbClr val="2E86C1"/>
                </a:solidFill>
                <a:latin typeface="Segoe UI"/>
              </a:rPr>
              <a:t>¿Qué heredamos de Ciencia de Datos?</a:t>
            </a:r>
          </a:p>
        </p:txBody>
      </p:sp>
      <p:sp>
        <p:nvSpPr>
          <p:cNvPr id="5" name="TextBox 4"/>
          <p:cNvSpPr txBox="1"/>
          <p:nvPr/>
        </p:nvSpPr>
        <p:spPr>
          <a:xfrm>
            <a:off x="806042" y="6446520"/>
            <a:ext cx="10898277" cy="246221"/>
          </a:xfrm>
          <a:prstGeom prst="rect">
            <a:avLst/>
          </a:prstGeom>
          <a:noFill/>
        </p:spPr>
        <p:txBody>
          <a:bodyPr wrap="square" anchor="t">
            <a:spAutoFit/>
          </a:bodyPr>
          <a:lstStyle/>
          <a:p>
            <a:pPr algn="r"/>
            <a:r>
              <a:rPr sz="1000" dirty="0" err="1">
                <a:solidFill>
                  <a:srgbClr val="6B7480"/>
                </a:solidFill>
                <a:latin typeface="Segoe UI"/>
              </a:rPr>
              <a:t>Diapositiva</a:t>
            </a:r>
            <a:r>
              <a:rPr sz="1000" dirty="0">
                <a:solidFill>
                  <a:srgbClr val="6B7480"/>
                </a:solidFill>
                <a:latin typeface="Segoe UI"/>
              </a:rPr>
              <a:t> 3 / 20</a:t>
            </a:r>
          </a:p>
        </p:txBody>
      </p:sp>
      <p:sp>
        <p:nvSpPr>
          <p:cNvPr id="6" name="Rounded Rectangle 5"/>
          <p:cNvSpPr/>
          <p:nvPr/>
        </p:nvSpPr>
        <p:spPr>
          <a:xfrm>
            <a:off x="806043" y="2286000"/>
            <a:ext cx="1874519" cy="1143000"/>
          </a:xfrm>
          <a:prstGeom prst="round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wrap="square" tIns="25400" bIns="25400" rtlCol="0" anchor="ctr"/>
          <a:lstStyle/>
          <a:p>
            <a:pPr algn="ctr"/>
            <a:r>
              <a:rPr sz="1300" b="1">
                <a:solidFill>
                  <a:srgbClr val="FFFFFF"/>
                </a:solidFill>
                <a:latin typeface="Segoe UI"/>
              </a:rPr>
              <a:t>EDA</a:t>
            </a:r>
          </a:p>
          <a:p>
            <a:pPr algn="ctr"/>
            <a:r>
              <a:rPr sz="1300" b="1">
                <a:solidFill>
                  <a:srgbClr val="FFFFFF"/>
                </a:solidFill>
                <a:latin typeface="Segoe UI"/>
              </a:rPr>
              <a:t>exploración</a:t>
            </a:r>
          </a:p>
        </p:txBody>
      </p:sp>
      <p:cxnSp>
        <p:nvCxnSpPr>
          <p:cNvPr id="7" name="Connector 6"/>
          <p:cNvCxnSpPr/>
          <p:nvPr/>
        </p:nvCxnSpPr>
        <p:spPr>
          <a:xfrm>
            <a:off x="2698851" y="2852928"/>
            <a:ext cx="256032" cy="0"/>
          </a:xfrm>
          <a:prstGeom prst="bentConnector3">
            <a:avLst/>
          </a:prstGeom>
          <a:ln w="2540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973171" y="2286000"/>
            <a:ext cx="1874519" cy="1143000"/>
          </a:xfrm>
          <a:prstGeom prst="roundRect">
            <a:avLst/>
          </a:prstGeom>
          <a:solidFill>
            <a:srgbClr val="5BA8D6"/>
          </a:solidFill>
          <a:ln>
            <a:noFill/>
          </a:ln>
        </p:spPr>
        <p:style>
          <a:lnRef idx="1">
            <a:schemeClr val="accent1"/>
          </a:lnRef>
          <a:fillRef idx="3">
            <a:schemeClr val="accent1"/>
          </a:fillRef>
          <a:effectRef idx="2">
            <a:schemeClr val="accent1"/>
          </a:effectRef>
          <a:fontRef idx="minor">
            <a:schemeClr val="lt1"/>
          </a:fontRef>
        </p:style>
        <p:txBody>
          <a:bodyPr wrap="square" tIns="25400" bIns="25400" rtlCol="0" anchor="ctr"/>
          <a:lstStyle/>
          <a:p>
            <a:pPr algn="ctr"/>
            <a:r>
              <a:rPr sz="1300" b="1">
                <a:solidFill>
                  <a:srgbClr val="FFFFFF"/>
                </a:solidFill>
                <a:latin typeface="Segoe UI"/>
              </a:rPr>
              <a:t>Limpieza</a:t>
            </a:r>
          </a:p>
          <a:p>
            <a:pPr algn="ctr"/>
            <a:r>
              <a:rPr sz="1300" b="1">
                <a:solidFill>
                  <a:srgbClr val="FFFFFF"/>
                </a:solidFill>
                <a:latin typeface="Segoe UI"/>
              </a:rPr>
              <a:t>outliers · NaN</a:t>
            </a:r>
          </a:p>
        </p:txBody>
      </p:sp>
      <p:cxnSp>
        <p:nvCxnSpPr>
          <p:cNvPr id="9" name="Connector 8"/>
          <p:cNvCxnSpPr/>
          <p:nvPr/>
        </p:nvCxnSpPr>
        <p:spPr>
          <a:xfrm>
            <a:off x="4865979" y="2852928"/>
            <a:ext cx="256032" cy="0"/>
          </a:xfrm>
          <a:prstGeom prst="bentConnector3">
            <a:avLst/>
          </a:prstGeom>
          <a:ln w="2540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140299" y="2286000"/>
            <a:ext cx="1874519" cy="1143000"/>
          </a:xfrm>
          <a:prstGeom prst="round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wrap="square" tIns="25400" bIns="25400" rtlCol="0" anchor="ctr"/>
          <a:lstStyle/>
          <a:p>
            <a:pPr algn="ctr"/>
            <a:r>
              <a:rPr sz="1300" b="1">
                <a:solidFill>
                  <a:srgbClr val="FFFFFF"/>
                </a:solidFill>
                <a:latin typeface="Segoe UI"/>
              </a:rPr>
              <a:t>One-Hot</a:t>
            </a:r>
          </a:p>
          <a:p>
            <a:pPr algn="ctr"/>
            <a:r>
              <a:rPr sz="1300" b="1">
                <a:solidFill>
                  <a:srgbClr val="FFFFFF"/>
                </a:solidFill>
                <a:latin typeface="Segoe UI"/>
              </a:rPr>
              <a:t>product_type</a:t>
            </a:r>
          </a:p>
        </p:txBody>
      </p:sp>
      <p:cxnSp>
        <p:nvCxnSpPr>
          <p:cNvPr id="11" name="Connector 10"/>
          <p:cNvCxnSpPr/>
          <p:nvPr/>
        </p:nvCxnSpPr>
        <p:spPr>
          <a:xfrm>
            <a:off x="7033107" y="2852928"/>
            <a:ext cx="256032" cy="0"/>
          </a:xfrm>
          <a:prstGeom prst="bentConnector3">
            <a:avLst/>
          </a:prstGeom>
          <a:ln w="2540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7307427" y="2286000"/>
            <a:ext cx="1874519" cy="1143000"/>
          </a:xfrm>
          <a:prstGeom prst="roundRect">
            <a:avLst/>
          </a:prstGeom>
          <a:solidFill>
            <a:srgbClr val="5BA8D6"/>
          </a:solidFill>
          <a:ln>
            <a:noFill/>
          </a:ln>
        </p:spPr>
        <p:style>
          <a:lnRef idx="1">
            <a:schemeClr val="accent1"/>
          </a:lnRef>
          <a:fillRef idx="3">
            <a:schemeClr val="accent1"/>
          </a:fillRef>
          <a:effectRef idx="2">
            <a:schemeClr val="accent1"/>
          </a:effectRef>
          <a:fontRef idx="minor">
            <a:schemeClr val="lt1"/>
          </a:fontRef>
        </p:style>
        <p:txBody>
          <a:bodyPr wrap="square" tIns="25400" bIns="25400" rtlCol="0" anchor="ctr"/>
          <a:lstStyle/>
          <a:p>
            <a:pPr algn="ctr"/>
            <a:r>
              <a:rPr sz="1300" b="1">
                <a:solidFill>
                  <a:srgbClr val="FFFFFF"/>
                </a:solidFill>
                <a:latin typeface="Segoe UI"/>
              </a:rPr>
              <a:t>Estandarización</a:t>
            </a:r>
          </a:p>
          <a:p>
            <a:pPr algn="ctr"/>
            <a:r>
              <a:rPr sz="1300" b="1">
                <a:solidFill>
                  <a:srgbClr val="FFFFFF"/>
                </a:solidFill>
                <a:latin typeface="Segoe UI"/>
              </a:rPr>
              <a:t>Z-score</a:t>
            </a:r>
          </a:p>
        </p:txBody>
      </p:sp>
      <p:cxnSp>
        <p:nvCxnSpPr>
          <p:cNvPr id="13" name="Connector 12"/>
          <p:cNvCxnSpPr/>
          <p:nvPr/>
        </p:nvCxnSpPr>
        <p:spPr>
          <a:xfrm>
            <a:off x="9200235" y="2852928"/>
            <a:ext cx="256032" cy="0"/>
          </a:xfrm>
          <a:prstGeom prst="bentConnector3">
            <a:avLst/>
          </a:prstGeom>
          <a:ln w="2540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9474555" y="2286000"/>
            <a:ext cx="1874519" cy="1143000"/>
          </a:xfrm>
          <a:prstGeom prst="round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wrap="square" tIns="25400" bIns="25400" rtlCol="0" anchor="ctr"/>
          <a:lstStyle/>
          <a:p>
            <a:pPr algn="ctr"/>
            <a:r>
              <a:rPr sz="1300" b="1">
                <a:solidFill>
                  <a:srgbClr val="FFFFFF"/>
                </a:solidFill>
                <a:latin typeface="Segoe UI"/>
              </a:rPr>
              <a:t>Train / Test</a:t>
            </a:r>
          </a:p>
          <a:p>
            <a:pPr algn="ctr"/>
            <a:r>
              <a:rPr sz="1300" b="1">
                <a:solidFill>
                  <a:srgbClr val="FFFFFF"/>
                </a:solidFill>
                <a:latin typeface="Segoe UI"/>
              </a:rPr>
              <a:t>80 / 20</a:t>
            </a:r>
          </a:p>
        </p:txBody>
      </p:sp>
      <p:sp>
        <p:nvSpPr>
          <p:cNvPr id="15" name="Rounded Rectangle 14"/>
          <p:cNvSpPr/>
          <p:nvPr/>
        </p:nvSpPr>
        <p:spPr>
          <a:xfrm>
            <a:off x="806043" y="4023360"/>
            <a:ext cx="10543032" cy="86868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wrap="square" tIns="25400" bIns="25400" rtlCol="0" anchor="ctr"/>
          <a:lstStyle/>
          <a:p>
            <a:pPr algn="ctr"/>
            <a:r>
              <a:rPr sz="1800" b="1">
                <a:solidFill>
                  <a:srgbClr val="2E86C1"/>
                </a:solidFill>
                <a:latin typeface="Segoe UI"/>
              </a:rPr>
              <a:t>Mismos datos para todos los modelos  →  la comparación es JUSTA</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10896"/>
            <a:ext cx="10058400" cy="914400"/>
          </a:xfrm>
          <a:prstGeom prst="rect">
            <a:avLst/>
          </a:prstGeom>
          <a:noFill/>
        </p:spPr>
        <p:txBody>
          <a:bodyPr wrap="square" anchor="t">
            <a:spAutoFit/>
          </a:bodyPr>
          <a:lstStyle/>
          <a:p>
            <a:pPr algn="l">
              <a:spcAft>
                <a:spcPts val="400"/>
              </a:spcAft>
            </a:pPr>
            <a:r>
              <a:rPr sz="2800" b="1" i="0">
                <a:solidFill>
                  <a:srgbClr val="2E86C1"/>
                </a:solidFill>
                <a:latin typeface="Segoe UI"/>
              </a:rPr>
              <a:t>¿Por qué un MLP?</a:t>
            </a:r>
          </a:p>
        </p:txBody>
      </p:sp>
      <p:sp>
        <p:nvSpPr>
          <p:cNvPr id="5" name="TextBox 4"/>
          <p:cNvSpPr txBox="1"/>
          <p:nvPr/>
        </p:nvSpPr>
        <p:spPr>
          <a:xfrm>
            <a:off x="727364" y="6446520"/>
            <a:ext cx="10976956" cy="246221"/>
          </a:xfrm>
          <a:prstGeom prst="rect">
            <a:avLst/>
          </a:prstGeom>
          <a:noFill/>
        </p:spPr>
        <p:txBody>
          <a:bodyPr wrap="square" anchor="t">
            <a:spAutoFit/>
          </a:bodyPr>
          <a:lstStyle/>
          <a:p>
            <a:pPr algn="r"/>
            <a:r>
              <a:rPr sz="1000">
                <a:solidFill>
                  <a:srgbClr val="6B7480"/>
                </a:solidFill>
                <a:latin typeface="Segoe UI"/>
              </a:rPr>
              <a:t>Diapositiva 4 / 20</a:t>
            </a:r>
          </a:p>
        </p:txBody>
      </p:sp>
      <p:pic>
        <p:nvPicPr>
          <p:cNvPr id="6" name="Picture 5" descr="cdd_14_cell36.png"/>
          <p:cNvPicPr>
            <a:picLocks noChangeAspect="1"/>
          </p:cNvPicPr>
          <p:nvPr/>
        </p:nvPicPr>
        <p:blipFill>
          <a:blip r:embed="rId3"/>
          <a:stretch>
            <a:fillRect/>
          </a:stretch>
        </p:blipFill>
        <p:spPr>
          <a:xfrm>
            <a:off x="1020236" y="1417320"/>
            <a:ext cx="5549046" cy="4754880"/>
          </a:xfrm>
          <a:prstGeom prst="rect">
            <a:avLst/>
          </a:prstGeom>
          <a:ln w="9525">
            <a:solidFill>
              <a:srgbClr val="DDDDDD"/>
            </a:solidFill>
          </a:ln>
        </p:spPr>
      </p:pic>
      <p:sp>
        <p:nvSpPr>
          <p:cNvPr id="7" name="TextBox 6"/>
          <p:cNvSpPr txBox="1"/>
          <p:nvPr/>
        </p:nvSpPr>
        <p:spPr>
          <a:xfrm>
            <a:off x="7315200" y="1737360"/>
            <a:ext cx="4480560" cy="4389120"/>
          </a:xfrm>
          <a:prstGeom prst="rect">
            <a:avLst/>
          </a:prstGeom>
          <a:noFill/>
        </p:spPr>
        <p:txBody>
          <a:bodyPr wrap="square" anchor="t">
            <a:spAutoFit/>
          </a:bodyPr>
          <a:lstStyle/>
          <a:p>
            <a:pPr algn="l">
              <a:spcAft>
                <a:spcPts val="800"/>
              </a:spcAft>
            </a:pPr>
            <a:r>
              <a:rPr sz="1500" b="1" i="0">
                <a:solidFill>
                  <a:srgbClr val="222B36"/>
                </a:solidFill>
                <a:latin typeface="Segoe UI"/>
              </a:rPr>
              <a:t>•  Aprende relaciones NO lineales entre variables</a:t>
            </a:r>
          </a:p>
          <a:p>
            <a:pPr algn="l">
              <a:spcAft>
                <a:spcPts val="800"/>
              </a:spcAft>
            </a:pPr>
            <a:r>
              <a:rPr sz="1500" b="0" i="0">
                <a:solidFill>
                  <a:srgbClr val="222B36"/>
                </a:solidFill>
                <a:latin typeface="Segoe UI"/>
              </a:rPr>
              <a:t>•  El EDA reveló interacciones complejas:</a:t>
            </a:r>
          </a:p>
          <a:p>
            <a:pPr algn="l">
              <a:spcAft>
                <a:spcPts val="800"/>
              </a:spcAft>
            </a:pPr>
            <a:r>
              <a:rPr sz="1500" b="0" i="0">
                <a:solidFill>
                  <a:srgbClr val="222B36"/>
                </a:solidFill>
                <a:latin typeface="Segoe UI"/>
              </a:rPr>
              <a:t>•  torque bajo dispara la falla</a:t>
            </a:r>
          </a:p>
          <a:p>
            <a:pPr algn="l">
              <a:spcAft>
                <a:spcPts val="800"/>
              </a:spcAft>
            </a:pPr>
            <a:r>
              <a:rPr sz="1500" b="0" i="0">
                <a:solidFill>
                  <a:srgbClr val="222B36"/>
                </a:solidFill>
                <a:latin typeface="Segoe UI"/>
              </a:rPr>
              <a:t>•  velocidad alta también</a:t>
            </a:r>
          </a:p>
          <a:p>
            <a:pPr algn="l">
              <a:spcAft>
                <a:spcPts val="800"/>
              </a:spcAft>
            </a:pPr>
            <a:r>
              <a:rPr sz="1500" b="0" i="0">
                <a:solidFill>
                  <a:srgbClr val="222B36"/>
                </a:solidFill>
                <a:latin typeface="Segoe UI"/>
              </a:rPr>
              <a:t>•  y el efecto depende del tipo de producto</a:t>
            </a:r>
          </a:p>
          <a:p>
            <a:pPr algn="l">
              <a:spcAft>
                <a:spcPts val="800"/>
              </a:spcAft>
            </a:pPr>
            <a:r>
              <a:rPr sz="1500" b="1" i="0">
                <a:solidFill>
                  <a:srgbClr val="222B36"/>
                </a:solidFill>
                <a:latin typeface="Segoe UI"/>
              </a:rPr>
              <a:t>•  El MLP captura esas combinaciones sin indicárselas</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10896"/>
            <a:ext cx="10058400" cy="914400"/>
          </a:xfrm>
          <a:prstGeom prst="rect">
            <a:avLst/>
          </a:prstGeom>
          <a:noFill/>
        </p:spPr>
        <p:txBody>
          <a:bodyPr wrap="square" anchor="t">
            <a:spAutoFit/>
          </a:bodyPr>
          <a:lstStyle/>
          <a:p>
            <a:pPr algn="l">
              <a:spcAft>
                <a:spcPts val="400"/>
              </a:spcAft>
            </a:pPr>
            <a:r>
              <a:rPr sz="2800" b="1" i="0">
                <a:solidFill>
                  <a:srgbClr val="2E86C1"/>
                </a:solidFill>
                <a:latin typeface="Segoe UI"/>
              </a:rPr>
              <a:t>Filosofía de diseño</a:t>
            </a:r>
          </a:p>
        </p:txBody>
      </p:sp>
      <p:sp>
        <p:nvSpPr>
          <p:cNvPr id="5" name="TextBox 4"/>
          <p:cNvSpPr txBox="1"/>
          <p:nvPr/>
        </p:nvSpPr>
        <p:spPr>
          <a:xfrm>
            <a:off x="1194954" y="6446520"/>
            <a:ext cx="10509365" cy="246221"/>
          </a:xfrm>
          <a:prstGeom prst="rect">
            <a:avLst/>
          </a:prstGeom>
          <a:noFill/>
        </p:spPr>
        <p:txBody>
          <a:bodyPr wrap="square" anchor="t">
            <a:spAutoFit/>
          </a:bodyPr>
          <a:lstStyle/>
          <a:p>
            <a:pPr algn="r"/>
            <a:r>
              <a:rPr sz="1000">
                <a:solidFill>
                  <a:srgbClr val="6B7480"/>
                </a:solidFill>
                <a:latin typeface="Segoe UI"/>
              </a:rPr>
              <a:t>Diapositiva 5 / 20</a:t>
            </a:r>
          </a:p>
        </p:txBody>
      </p:sp>
      <p:sp>
        <p:nvSpPr>
          <p:cNvPr id="6" name="Rounded Rectangle 5"/>
          <p:cNvSpPr/>
          <p:nvPr/>
        </p:nvSpPr>
        <p:spPr>
          <a:xfrm>
            <a:off x="3718407" y="1737360"/>
            <a:ext cx="4754880" cy="868680"/>
          </a:xfrm>
          <a:prstGeom prst="round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wrap="square" tIns="25400" bIns="25400" rtlCol="0" anchor="ctr"/>
          <a:lstStyle/>
          <a:p>
            <a:pPr algn="ctr"/>
            <a:r>
              <a:rPr sz="1400" b="1">
                <a:solidFill>
                  <a:srgbClr val="FFFFFF"/>
                </a:solidFill>
                <a:latin typeface="Segoe UI"/>
              </a:rPr>
              <a:t>8 features</a:t>
            </a:r>
          </a:p>
          <a:p>
            <a:pPr algn="ctr"/>
            <a:r>
              <a:rPr sz="1400" b="1">
                <a:solidFill>
                  <a:srgbClr val="FFFFFF"/>
                </a:solidFill>
                <a:latin typeface="Segoe UI"/>
              </a:rPr>
              <a:t>entrada</a:t>
            </a:r>
          </a:p>
        </p:txBody>
      </p:sp>
      <p:sp>
        <p:nvSpPr>
          <p:cNvPr id="7" name="Rounded Rectangle 6"/>
          <p:cNvSpPr/>
          <p:nvPr/>
        </p:nvSpPr>
        <p:spPr>
          <a:xfrm>
            <a:off x="4404207" y="2816352"/>
            <a:ext cx="3383280" cy="868680"/>
          </a:xfrm>
          <a:prstGeom prst="round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wrap="square" tIns="25400" bIns="25400" rtlCol="0" anchor="ctr"/>
          <a:lstStyle/>
          <a:p>
            <a:pPr algn="ctr"/>
            <a:r>
              <a:rPr sz="1400" b="1">
                <a:solidFill>
                  <a:srgbClr val="FFFFFF"/>
                </a:solidFill>
                <a:latin typeface="Segoe UI"/>
              </a:rPr>
              <a:t>32 neuronas</a:t>
            </a:r>
          </a:p>
        </p:txBody>
      </p:sp>
      <p:sp>
        <p:nvSpPr>
          <p:cNvPr id="8" name="Rounded Rectangle 7"/>
          <p:cNvSpPr/>
          <p:nvPr/>
        </p:nvSpPr>
        <p:spPr>
          <a:xfrm>
            <a:off x="4769967" y="3895344"/>
            <a:ext cx="2651760" cy="868680"/>
          </a:xfrm>
          <a:prstGeom prst="round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wrap="square" tIns="25400" bIns="25400" rtlCol="0" anchor="ctr"/>
          <a:lstStyle/>
          <a:p>
            <a:pPr algn="ctr"/>
            <a:r>
              <a:rPr sz="1400" b="1">
                <a:solidFill>
                  <a:srgbClr val="FFFFFF"/>
                </a:solidFill>
                <a:latin typeface="Segoe UI"/>
              </a:rPr>
              <a:t>32 neuronas</a:t>
            </a:r>
          </a:p>
        </p:txBody>
      </p:sp>
      <p:sp>
        <p:nvSpPr>
          <p:cNvPr id="9" name="Rounded Rectangle 8"/>
          <p:cNvSpPr/>
          <p:nvPr/>
        </p:nvSpPr>
        <p:spPr>
          <a:xfrm>
            <a:off x="5181447" y="4974336"/>
            <a:ext cx="1828800" cy="868680"/>
          </a:xfrm>
          <a:prstGeom prst="roundRect">
            <a:avLst/>
          </a:prstGeom>
          <a:solidFill>
            <a:srgbClr val="2E86C1"/>
          </a:solidFill>
          <a:ln>
            <a:noFill/>
          </a:ln>
        </p:spPr>
        <p:style>
          <a:lnRef idx="1">
            <a:schemeClr val="accent1"/>
          </a:lnRef>
          <a:fillRef idx="3">
            <a:schemeClr val="accent1"/>
          </a:fillRef>
          <a:effectRef idx="2">
            <a:schemeClr val="accent1"/>
          </a:effectRef>
          <a:fontRef idx="minor">
            <a:schemeClr val="lt1"/>
          </a:fontRef>
        </p:style>
        <p:txBody>
          <a:bodyPr wrap="square" tIns="25400" bIns="25400" rtlCol="0" anchor="ctr"/>
          <a:lstStyle/>
          <a:p>
            <a:pPr algn="ctr"/>
            <a:r>
              <a:rPr sz="1400" b="1">
                <a:solidFill>
                  <a:srgbClr val="FFFFFF"/>
                </a:solidFill>
                <a:latin typeface="Segoe UI"/>
              </a:rPr>
              <a:t>1 salida</a:t>
            </a:r>
          </a:p>
          <a:p>
            <a:pPr algn="ctr"/>
            <a:r>
              <a:rPr sz="1400" b="1">
                <a:solidFill>
                  <a:srgbClr val="FFFFFF"/>
                </a:solidFill>
                <a:latin typeface="Segoe UI"/>
              </a:rPr>
              <a:t>falla</a:t>
            </a:r>
          </a:p>
        </p:txBody>
      </p:sp>
      <p:sp>
        <p:nvSpPr>
          <p:cNvPr id="10" name="TextBox 9"/>
          <p:cNvSpPr txBox="1"/>
          <p:nvPr/>
        </p:nvSpPr>
        <p:spPr>
          <a:xfrm>
            <a:off x="7955279" y="2834640"/>
            <a:ext cx="3840480" cy="4023360"/>
          </a:xfrm>
          <a:prstGeom prst="rect">
            <a:avLst/>
          </a:prstGeom>
          <a:noFill/>
        </p:spPr>
        <p:txBody>
          <a:bodyPr wrap="square" anchor="t">
            <a:spAutoFit/>
          </a:bodyPr>
          <a:lstStyle/>
          <a:p>
            <a:pPr algn="l">
              <a:spcAft>
                <a:spcPts val="800"/>
              </a:spcAft>
            </a:pPr>
            <a:r>
              <a:rPr sz="1500" b="1" i="0" dirty="0">
                <a:solidFill>
                  <a:srgbClr val="222B36"/>
                </a:solidFill>
                <a:latin typeface="Segoe UI"/>
              </a:rPr>
              <a:t>•  </a:t>
            </a:r>
            <a:r>
              <a:rPr sz="1500" b="1" i="0" dirty="0" err="1">
                <a:solidFill>
                  <a:srgbClr val="222B36"/>
                </a:solidFill>
                <a:latin typeface="Segoe UI"/>
              </a:rPr>
              <a:t>Simplicidad</a:t>
            </a:r>
            <a:r>
              <a:rPr sz="1500" b="1" i="0" dirty="0">
                <a:solidFill>
                  <a:srgbClr val="222B36"/>
                </a:solidFill>
                <a:latin typeface="Segoe UI"/>
              </a:rPr>
              <a:t> </a:t>
            </a:r>
            <a:r>
              <a:rPr sz="1500" b="1" i="0" dirty="0" err="1">
                <a:solidFill>
                  <a:srgbClr val="222B36"/>
                </a:solidFill>
                <a:latin typeface="Segoe UI"/>
              </a:rPr>
              <a:t>acorde</a:t>
            </a:r>
            <a:r>
              <a:rPr sz="1500" b="1" i="0" dirty="0">
                <a:solidFill>
                  <a:srgbClr val="222B36"/>
                </a:solidFill>
                <a:latin typeface="Segoe UI"/>
              </a:rPr>
              <a:t> al </a:t>
            </a:r>
            <a:r>
              <a:rPr sz="1500" b="1" i="0" dirty="0" err="1">
                <a:solidFill>
                  <a:srgbClr val="222B36"/>
                </a:solidFill>
                <a:latin typeface="Segoe UI"/>
              </a:rPr>
              <a:t>problema</a:t>
            </a:r>
            <a:endParaRPr sz="1500" b="1" i="0" dirty="0">
              <a:solidFill>
                <a:srgbClr val="222B36"/>
              </a:solidFill>
              <a:latin typeface="Segoe UI"/>
            </a:endParaRPr>
          </a:p>
          <a:p>
            <a:pPr algn="l">
              <a:spcAft>
                <a:spcPts val="800"/>
              </a:spcAft>
            </a:pPr>
            <a:r>
              <a:rPr sz="1500" b="0" i="0" dirty="0">
                <a:solidFill>
                  <a:srgbClr val="222B36"/>
                </a:solidFill>
                <a:latin typeface="Segoe UI"/>
              </a:rPr>
              <a:t>•  Con solo 8 features, </a:t>
            </a:r>
            <a:r>
              <a:rPr sz="1500" b="0" i="0" dirty="0" err="1">
                <a:solidFill>
                  <a:srgbClr val="222B36"/>
                </a:solidFill>
                <a:latin typeface="Segoe UI"/>
              </a:rPr>
              <a:t>una</a:t>
            </a:r>
            <a:r>
              <a:rPr sz="1500" b="0" i="0" dirty="0">
                <a:solidFill>
                  <a:srgbClr val="222B36"/>
                </a:solidFill>
                <a:latin typeface="Segoe UI"/>
              </a:rPr>
              <a:t> red profunda solo </a:t>
            </a:r>
            <a:r>
              <a:rPr sz="1500" b="0" i="0" dirty="0" err="1">
                <a:solidFill>
                  <a:srgbClr val="222B36"/>
                </a:solidFill>
                <a:latin typeface="Segoe UI"/>
              </a:rPr>
              <a:t>agrega</a:t>
            </a:r>
            <a:r>
              <a:rPr sz="1500" b="0" i="0" dirty="0">
                <a:solidFill>
                  <a:srgbClr val="222B36"/>
                </a:solidFill>
                <a:latin typeface="Segoe UI"/>
              </a:rPr>
              <a:t> </a:t>
            </a:r>
            <a:r>
              <a:rPr sz="1500" b="0" i="0" dirty="0" err="1">
                <a:solidFill>
                  <a:srgbClr val="222B36"/>
                </a:solidFill>
                <a:latin typeface="Segoe UI"/>
              </a:rPr>
              <a:t>sobreajuste</a:t>
            </a:r>
            <a:endParaRPr sz="1500" b="0" i="0" dirty="0">
              <a:solidFill>
                <a:srgbClr val="222B36"/>
              </a:solidFill>
              <a:latin typeface="Segoe UI"/>
            </a:endParaRPr>
          </a:p>
          <a:p>
            <a:pPr algn="l">
              <a:spcAft>
                <a:spcPts val="800"/>
              </a:spcAft>
            </a:pPr>
            <a:r>
              <a:rPr sz="1500" b="1" i="0" dirty="0">
                <a:solidFill>
                  <a:srgbClr val="222B36"/>
                </a:solidFill>
                <a:latin typeface="Segoe UI"/>
              </a:rPr>
              <a:t>•  Arquitectura </a:t>
            </a:r>
            <a:r>
              <a:rPr sz="1500" b="1" i="0" dirty="0" err="1">
                <a:solidFill>
                  <a:srgbClr val="222B36"/>
                </a:solidFill>
                <a:latin typeface="Segoe UI"/>
              </a:rPr>
              <a:t>en</a:t>
            </a:r>
            <a:r>
              <a:rPr sz="1500" b="1" i="0" dirty="0">
                <a:solidFill>
                  <a:srgbClr val="222B36"/>
                </a:solidFill>
                <a:latin typeface="Segoe UI"/>
              </a:rPr>
              <a:t> </a:t>
            </a:r>
            <a:r>
              <a:rPr sz="1500" b="1" i="0" dirty="0" err="1">
                <a:solidFill>
                  <a:srgbClr val="222B36"/>
                </a:solidFill>
                <a:latin typeface="Segoe UI"/>
              </a:rPr>
              <a:t>embudo</a:t>
            </a:r>
            <a:r>
              <a:rPr sz="1500" b="1" i="0" dirty="0">
                <a:solidFill>
                  <a:srgbClr val="222B36"/>
                </a:solidFill>
                <a:latin typeface="Segoe UI"/>
              </a:rPr>
              <a:t>: </a:t>
            </a:r>
            <a:r>
              <a:rPr sz="1500" b="1" i="0" dirty="0" err="1">
                <a:solidFill>
                  <a:srgbClr val="222B36"/>
                </a:solidFill>
                <a:latin typeface="Segoe UI"/>
              </a:rPr>
              <a:t>comprime</a:t>
            </a:r>
            <a:r>
              <a:rPr sz="1500" b="1" i="0" dirty="0">
                <a:solidFill>
                  <a:srgbClr val="222B36"/>
                </a:solidFill>
                <a:latin typeface="Segoe UI"/>
              </a:rPr>
              <a:t> la </a:t>
            </a:r>
            <a:r>
              <a:rPr sz="1500" b="1" i="0" dirty="0" err="1">
                <a:solidFill>
                  <a:srgbClr val="222B36"/>
                </a:solidFill>
                <a:latin typeface="Segoe UI"/>
              </a:rPr>
              <a:t>información</a:t>
            </a:r>
            <a:r>
              <a:rPr sz="1500" b="1" i="0" dirty="0">
                <a:solidFill>
                  <a:srgbClr val="222B36"/>
                </a:solidFill>
                <a:latin typeface="Segoe UI"/>
              </a:rPr>
              <a:t> </a:t>
            </a:r>
            <a:r>
              <a:rPr sz="1500" b="1" i="0" dirty="0" err="1">
                <a:solidFill>
                  <a:srgbClr val="222B36"/>
                </a:solidFill>
                <a:latin typeface="Segoe UI"/>
              </a:rPr>
              <a:t>progresivamente</a:t>
            </a:r>
            <a:endParaRPr sz="1500" b="1" i="0" dirty="0">
              <a:solidFill>
                <a:srgbClr val="222B36"/>
              </a:solidFill>
              <a:latin typeface="Segoe UI"/>
            </a:endParaRPr>
          </a:p>
          <a:p>
            <a:pPr algn="l">
              <a:spcAft>
                <a:spcPts val="800"/>
              </a:spcAft>
            </a:pPr>
            <a:r>
              <a:rPr sz="1500" b="0" i="0" dirty="0">
                <a:solidFill>
                  <a:srgbClr val="222B36"/>
                </a:solidFill>
                <a:latin typeface="Segoe UI"/>
              </a:rPr>
              <a:t>•  Se </a:t>
            </a:r>
            <a:r>
              <a:rPr sz="1500" b="0" i="0" dirty="0" err="1">
                <a:solidFill>
                  <a:srgbClr val="222B36"/>
                </a:solidFill>
                <a:latin typeface="Segoe UI"/>
              </a:rPr>
              <a:t>queda</a:t>
            </a:r>
            <a:r>
              <a:rPr sz="1500" b="0" i="0" dirty="0">
                <a:solidFill>
                  <a:srgbClr val="222B36"/>
                </a:solidFill>
                <a:latin typeface="Segoe UI"/>
              </a:rPr>
              <a:t> con </a:t>
            </a:r>
            <a:r>
              <a:rPr sz="1500" b="0" i="0" dirty="0" err="1">
                <a:solidFill>
                  <a:srgbClr val="222B36"/>
                </a:solidFill>
                <a:latin typeface="Segoe UI"/>
              </a:rPr>
              <a:t>los</a:t>
            </a:r>
            <a:r>
              <a:rPr sz="1500" b="0" i="0" dirty="0">
                <a:solidFill>
                  <a:srgbClr val="222B36"/>
                </a:solidFill>
                <a:latin typeface="Segoe UI"/>
              </a:rPr>
              <a:t> </a:t>
            </a:r>
            <a:r>
              <a:rPr sz="1500" b="0" i="0" dirty="0" err="1">
                <a:solidFill>
                  <a:srgbClr val="222B36"/>
                </a:solidFill>
                <a:latin typeface="Segoe UI"/>
              </a:rPr>
              <a:t>patrones</a:t>
            </a:r>
            <a:r>
              <a:rPr sz="1500" b="0" i="0" dirty="0">
                <a:solidFill>
                  <a:srgbClr val="222B36"/>
                </a:solidFill>
                <a:latin typeface="Segoe UI"/>
              </a:rPr>
              <a:t> </a:t>
            </a:r>
            <a:r>
              <a:rPr sz="1500" b="0" i="0" dirty="0" err="1">
                <a:solidFill>
                  <a:srgbClr val="222B36"/>
                </a:solidFill>
                <a:latin typeface="Segoe UI"/>
              </a:rPr>
              <a:t>que</a:t>
            </a:r>
            <a:r>
              <a:rPr sz="1500" b="0" i="0" dirty="0">
                <a:solidFill>
                  <a:srgbClr val="222B36"/>
                </a:solidFill>
                <a:latin typeface="Segoe UI"/>
              </a:rPr>
              <a:t> </a:t>
            </a:r>
            <a:r>
              <a:rPr sz="1500" b="0" i="0" dirty="0" err="1">
                <a:solidFill>
                  <a:srgbClr val="222B36"/>
                </a:solidFill>
                <a:latin typeface="Segoe UI"/>
              </a:rPr>
              <a:t>anticipan</a:t>
            </a:r>
            <a:r>
              <a:rPr sz="1500" b="0" i="0" dirty="0">
                <a:solidFill>
                  <a:srgbClr val="222B36"/>
                </a:solidFill>
                <a:latin typeface="Segoe UI"/>
              </a:rPr>
              <a:t> la </a:t>
            </a:r>
            <a:r>
              <a:rPr sz="1500" b="0" i="0" dirty="0" err="1">
                <a:solidFill>
                  <a:srgbClr val="222B36"/>
                </a:solidFill>
                <a:latin typeface="Segoe UI"/>
              </a:rPr>
              <a:t>falla</a:t>
            </a:r>
            <a:endParaRPr sz="1500" b="0" i="0" dirty="0">
              <a:solidFill>
                <a:srgbClr val="222B36"/>
              </a:solidFill>
              <a:latin typeface="Segoe UI"/>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219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10896"/>
            <a:ext cx="10058400" cy="914400"/>
          </a:xfrm>
          <a:prstGeom prst="rect">
            <a:avLst/>
          </a:prstGeom>
          <a:noFill/>
        </p:spPr>
        <p:txBody>
          <a:bodyPr wrap="square" anchor="t">
            <a:spAutoFit/>
          </a:bodyPr>
          <a:lstStyle/>
          <a:p>
            <a:pPr algn="l">
              <a:spcAft>
                <a:spcPts val="400"/>
              </a:spcAft>
            </a:pPr>
            <a:r>
              <a:rPr sz="2800" b="1" i="0">
                <a:solidFill>
                  <a:srgbClr val="219A52"/>
                </a:solidFill>
                <a:latin typeface="Segoe UI"/>
              </a:rPr>
              <a:t>Arquitectura final</a:t>
            </a:r>
          </a:p>
        </p:txBody>
      </p:sp>
      <p:sp>
        <p:nvSpPr>
          <p:cNvPr id="5" name="TextBox 4"/>
          <p:cNvSpPr txBox="1"/>
          <p:nvPr/>
        </p:nvSpPr>
        <p:spPr>
          <a:xfrm>
            <a:off x="860906" y="6446520"/>
            <a:ext cx="10843413" cy="246221"/>
          </a:xfrm>
          <a:prstGeom prst="rect">
            <a:avLst/>
          </a:prstGeom>
          <a:noFill/>
        </p:spPr>
        <p:txBody>
          <a:bodyPr wrap="square" anchor="t">
            <a:spAutoFit/>
          </a:bodyPr>
          <a:lstStyle/>
          <a:p>
            <a:pPr algn="r"/>
            <a:r>
              <a:rPr sz="1000">
                <a:solidFill>
                  <a:srgbClr val="6B7480"/>
                </a:solidFill>
                <a:latin typeface="Segoe UI"/>
              </a:rPr>
              <a:t>Diapositiva 6 / 20</a:t>
            </a:r>
          </a:p>
        </p:txBody>
      </p:sp>
      <p:sp>
        <p:nvSpPr>
          <p:cNvPr id="6" name="Rounded Rectangle 5"/>
          <p:cNvSpPr/>
          <p:nvPr/>
        </p:nvSpPr>
        <p:spPr>
          <a:xfrm>
            <a:off x="860907" y="2377440"/>
            <a:ext cx="2240280" cy="1371600"/>
          </a:xfrm>
          <a:prstGeom prst="roundRect">
            <a:avLst/>
          </a:prstGeom>
          <a:solidFill>
            <a:srgbClr val="219A52"/>
          </a:solidFill>
          <a:ln>
            <a:noFill/>
          </a:ln>
        </p:spPr>
        <p:style>
          <a:lnRef idx="1">
            <a:schemeClr val="accent1"/>
          </a:lnRef>
          <a:fillRef idx="3">
            <a:schemeClr val="accent1"/>
          </a:fillRef>
          <a:effectRef idx="2">
            <a:schemeClr val="accent1"/>
          </a:effectRef>
          <a:fontRef idx="minor">
            <a:schemeClr val="lt1"/>
          </a:fontRef>
        </p:style>
        <p:txBody>
          <a:bodyPr wrap="square" tIns="25400" bIns="25400" rtlCol="0" anchor="ctr"/>
          <a:lstStyle/>
          <a:p>
            <a:pPr algn="ctr"/>
            <a:r>
              <a:rPr sz="1500" b="1">
                <a:solidFill>
                  <a:srgbClr val="FFFFFF"/>
                </a:solidFill>
                <a:latin typeface="Segoe UI"/>
              </a:rPr>
              <a:t>Entrada</a:t>
            </a:r>
          </a:p>
          <a:p>
            <a:pPr algn="ctr"/>
            <a:r>
              <a:rPr sz="1500" b="1">
                <a:solidFill>
                  <a:srgbClr val="FFFFFF"/>
                </a:solidFill>
                <a:latin typeface="Segoe UI"/>
              </a:rPr>
              <a:t>8 neuronas</a:t>
            </a:r>
          </a:p>
        </p:txBody>
      </p:sp>
      <p:cxnSp>
        <p:nvCxnSpPr>
          <p:cNvPr id="7" name="Connector 6"/>
          <p:cNvCxnSpPr/>
          <p:nvPr/>
        </p:nvCxnSpPr>
        <p:spPr>
          <a:xfrm>
            <a:off x="3137763" y="3063240"/>
            <a:ext cx="429768" cy="0"/>
          </a:xfrm>
          <a:prstGeom prst="bentConnector3">
            <a:avLst/>
          </a:prstGeom>
          <a:ln w="2540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3604107" y="2377440"/>
            <a:ext cx="2240280" cy="137160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wrap="square" tIns="25400" bIns="25400" rtlCol="0" anchor="ctr"/>
          <a:lstStyle/>
          <a:p>
            <a:pPr algn="ctr"/>
            <a:r>
              <a:rPr sz="1500" b="1">
                <a:solidFill>
                  <a:srgbClr val="FFFFFF"/>
                </a:solidFill>
                <a:latin typeface="Segoe UI"/>
              </a:rPr>
              <a:t>Oculta</a:t>
            </a:r>
          </a:p>
          <a:p>
            <a:pPr algn="ctr"/>
            <a:r>
              <a:rPr sz="1500" b="1">
                <a:solidFill>
                  <a:srgbClr val="FFFFFF"/>
                </a:solidFill>
                <a:latin typeface="Segoe UI"/>
              </a:rPr>
              <a:t>32 · ReLU</a:t>
            </a:r>
          </a:p>
        </p:txBody>
      </p:sp>
      <p:cxnSp>
        <p:nvCxnSpPr>
          <p:cNvPr id="9" name="Connector 8"/>
          <p:cNvCxnSpPr/>
          <p:nvPr/>
        </p:nvCxnSpPr>
        <p:spPr>
          <a:xfrm>
            <a:off x="5880963" y="3063240"/>
            <a:ext cx="429768" cy="0"/>
          </a:xfrm>
          <a:prstGeom prst="bentConnector3">
            <a:avLst/>
          </a:prstGeom>
          <a:ln w="2540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6347307" y="2377440"/>
            <a:ext cx="2240280" cy="137160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wrap="square" tIns="25400" bIns="25400" rtlCol="0" anchor="ctr"/>
          <a:lstStyle/>
          <a:p>
            <a:pPr algn="ctr"/>
            <a:r>
              <a:rPr sz="1500" b="1">
                <a:solidFill>
                  <a:srgbClr val="FFFFFF"/>
                </a:solidFill>
                <a:latin typeface="Segoe UI"/>
              </a:rPr>
              <a:t>Oculta</a:t>
            </a:r>
          </a:p>
          <a:p>
            <a:pPr algn="ctr"/>
            <a:r>
              <a:rPr sz="1500" b="1">
                <a:solidFill>
                  <a:srgbClr val="FFFFFF"/>
                </a:solidFill>
                <a:latin typeface="Segoe UI"/>
              </a:rPr>
              <a:t>32 · ReLU</a:t>
            </a:r>
          </a:p>
        </p:txBody>
      </p:sp>
      <p:cxnSp>
        <p:nvCxnSpPr>
          <p:cNvPr id="11" name="Connector 10"/>
          <p:cNvCxnSpPr/>
          <p:nvPr/>
        </p:nvCxnSpPr>
        <p:spPr>
          <a:xfrm>
            <a:off x="8624163" y="3063240"/>
            <a:ext cx="429768" cy="0"/>
          </a:xfrm>
          <a:prstGeom prst="bentConnector3">
            <a:avLst/>
          </a:prstGeom>
          <a:ln w="25400">
            <a:solidFill>
              <a:srgbClr val="6B74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9090507" y="2377440"/>
            <a:ext cx="2240280" cy="1371600"/>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wrap="square" tIns="25400" bIns="25400" rtlCol="0" anchor="ctr"/>
          <a:lstStyle/>
          <a:p>
            <a:pPr algn="ctr"/>
            <a:r>
              <a:rPr sz="1500" b="1">
                <a:solidFill>
                  <a:srgbClr val="FFFFFF"/>
                </a:solidFill>
                <a:latin typeface="Segoe UI"/>
              </a:rPr>
              <a:t>Salida</a:t>
            </a:r>
          </a:p>
          <a:p>
            <a:pPr algn="ctr"/>
            <a:r>
              <a:rPr sz="1500" b="1">
                <a:solidFill>
                  <a:srgbClr val="FFFFFF"/>
                </a:solidFill>
                <a:latin typeface="Segoe UI"/>
              </a:rPr>
              <a:t>1 · Sigmoid</a:t>
            </a:r>
          </a:p>
        </p:txBody>
      </p:sp>
      <p:sp>
        <p:nvSpPr>
          <p:cNvPr id="13" name="Rounded Rectangle 12"/>
          <p:cNvSpPr/>
          <p:nvPr/>
        </p:nvSpPr>
        <p:spPr>
          <a:xfrm>
            <a:off x="860907" y="4297680"/>
            <a:ext cx="10469880" cy="91440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wrap="square" tIns="25400" bIns="25400" rtlCol="0" anchor="ctr"/>
          <a:lstStyle/>
          <a:p>
            <a:pPr algn="ctr"/>
            <a:r>
              <a:rPr sz="1700" b="1">
                <a:solidFill>
                  <a:srgbClr val="219A52"/>
                </a:solidFill>
                <a:latin typeface="Segoe UI"/>
              </a:rPr>
              <a:t>Solo 1.377 parámetros  ·  modelo muy liviano  ·  2 capas alcanzan para 8 variables</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219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10896"/>
            <a:ext cx="10058400" cy="914400"/>
          </a:xfrm>
          <a:prstGeom prst="rect">
            <a:avLst/>
          </a:prstGeom>
          <a:noFill/>
        </p:spPr>
        <p:txBody>
          <a:bodyPr wrap="square" anchor="t">
            <a:spAutoFit/>
          </a:bodyPr>
          <a:lstStyle/>
          <a:p>
            <a:pPr algn="l">
              <a:spcAft>
                <a:spcPts val="400"/>
              </a:spcAft>
            </a:pPr>
            <a:r>
              <a:rPr sz="2800" b="1" i="0">
                <a:solidFill>
                  <a:srgbClr val="219A52"/>
                </a:solidFill>
                <a:latin typeface="Segoe UI"/>
              </a:rPr>
              <a:t>Funciones de activación</a:t>
            </a:r>
          </a:p>
        </p:txBody>
      </p:sp>
      <p:sp>
        <p:nvSpPr>
          <p:cNvPr id="5" name="TextBox 4"/>
          <p:cNvSpPr txBox="1"/>
          <p:nvPr/>
        </p:nvSpPr>
        <p:spPr>
          <a:xfrm>
            <a:off x="1059872" y="6446520"/>
            <a:ext cx="10644447" cy="246221"/>
          </a:xfrm>
          <a:prstGeom prst="rect">
            <a:avLst/>
          </a:prstGeom>
          <a:noFill/>
        </p:spPr>
        <p:txBody>
          <a:bodyPr wrap="square" anchor="t">
            <a:spAutoFit/>
          </a:bodyPr>
          <a:lstStyle/>
          <a:p>
            <a:pPr algn="r"/>
            <a:r>
              <a:rPr sz="1000">
                <a:solidFill>
                  <a:srgbClr val="6B7480"/>
                </a:solidFill>
                <a:latin typeface="Segoe UI"/>
              </a:rPr>
              <a:t>Diapositiva 7 / 20</a:t>
            </a:r>
          </a:p>
        </p:txBody>
      </p:sp>
      <p:pic>
        <p:nvPicPr>
          <p:cNvPr id="6" name="Picture 5" descr="gen_activations.png"/>
          <p:cNvPicPr>
            <a:picLocks noChangeAspect="1"/>
          </p:cNvPicPr>
          <p:nvPr/>
        </p:nvPicPr>
        <p:blipFill>
          <a:blip r:embed="rId3"/>
          <a:stretch>
            <a:fillRect/>
          </a:stretch>
        </p:blipFill>
        <p:spPr>
          <a:xfrm>
            <a:off x="1641431" y="1554480"/>
            <a:ext cx="8878656" cy="3291840"/>
          </a:xfrm>
          <a:prstGeom prst="rect">
            <a:avLst/>
          </a:prstGeom>
          <a:ln w="9525">
            <a:solidFill>
              <a:srgbClr val="DDDDDD"/>
            </a:solidFill>
          </a:ln>
        </p:spPr>
      </p:pic>
      <p:sp>
        <p:nvSpPr>
          <p:cNvPr id="7" name="TextBox 6"/>
          <p:cNvSpPr txBox="1"/>
          <p:nvPr/>
        </p:nvSpPr>
        <p:spPr>
          <a:xfrm>
            <a:off x="914400" y="4983480"/>
            <a:ext cx="10332720" cy="1463040"/>
          </a:xfrm>
          <a:prstGeom prst="rect">
            <a:avLst/>
          </a:prstGeom>
          <a:noFill/>
        </p:spPr>
        <p:txBody>
          <a:bodyPr wrap="square" anchor="t">
            <a:spAutoFit/>
          </a:bodyPr>
          <a:lstStyle/>
          <a:p>
            <a:pPr algn="l">
              <a:spcAft>
                <a:spcPts val="800"/>
              </a:spcAft>
            </a:pPr>
            <a:r>
              <a:rPr sz="1400" b="1" i="0">
                <a:solidFill>
                  <a:srgbClr val="222B36"/>
                </a:solidFill>
                <a:latin typeface="Segoe UI"/>
              </a:rPr>
              <a:t>•  ReLU (capas ocultas): estándar moderno, evita el desvanecimiento del gradiente, muy eficiente</a:t>
            </a:r>
          </a:p>
          <a:p>
            <a:pPr algn="l">
              <a:spcAft>
                <a:spcPts val="800"/>
              </a:spcAft>
            </a:pPr>
            <a:r>
              <a:rPr sz="1400" b="1" i="0">
                <a:solidFill>
                  <a:srgbClr val="222B36"/>
                </a:solidFill>
                <a:latin typeface="Segoe UI"/>
              </a:rPr>
              <a:t>•  Sigmoid (salida): mapea a 0–1 → se interpreta como probabilidad de falla.  No usamos Softmax (es para múltiples clases)</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219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10896"/>
            <a:ext cx="10058400" cy="914400"/>
          </a:xfrm>
          <a:prstGeom prst="rect">
            <a:avLst/>
          </a:prstGeom>
          <a:noFill/>
        </p:spPr>
        <p:txBody>
          <a:bodyPr wrap="square" anchor="t">
            <a:spAutoFit/>
          </a:bodyPr>
          <a:lstStyle/>
          <a:p>
            <a:pPr algn="l">
              <a:spcAft>
                <a:spcPts val="400"/>
              </a:spcAft>
            </a:pPr>
            <a:r>
              <a:rPr sz="2800" b="1" i="0">
                <a:solidFill>
                  <a:srgbClr val="219A52"/>
                </a:solidFill>
                <a:latin typeface="Segoe UI"/>
              </a:rPr>
              <a:t>Función de pérdida y regularización</a:t>
            </a:r>
          </a:p>
        </p:txBody>
      </p:sp>
      <p:sp>
        <p:nvSpPr>
          <p:cNvPr id="5" name="TextBox 4"/>
          <p:cNvSpPr txBox="1"/>
          <p:nvPr/>
        </p:nvSpPr>
        <p:spPr>
          <a:xfrm>
            <a:off x="935182" y="6446520"/>
            <a:ext cx="10769138" cy="246221"/>
          </a:xfrm>
          <a:prstGeom prst="rect">
            <a:avLst/>
          </a:prstGeom>
          <a:noFill/>
        </p:spPr>
        <p:txBody>
          <a:bodyPr wrap="square" anchor="t">
            <a:spAutoFit/>
          </a:bodyPr>
          <a:lstStyle/>
          <a:p>
            <a:pPr algn="r"/>
            <a:r>
              <a:rPr sz="1000">
                <a:solidFill>
                  <a:srgbClr val="6B7480"/>
                </a:solidFill>
                <a:latin typeface="Segoe UI"/>
              </a:rPr>
              <a:t>Diapositiva 8 / 20</a:t>
            </a:r>
          </a:p>
        </p:txBody>
      </p:sp>
      <p:sp>
        <p:nvSpPr>
          <p:cNvPr id="6" name="Rounded Rectangle 5"/>
          <p:cNvSpPr/>
          <p:nvPr/>
        </p:nvSpPr>
        <p:spPr>
          <a:xfrm>
            <a:off x="640080" y="1828800"/>
            <a:ext cx="5486400" cy="1280160"/>
          </a:xfrm>
          <a:prstGeom prst="roundRect">
            <a:avLst/>
          </a:prstGeom>
          <a:solidFill>
            <a:srgbClr val="219A52"/>
          </a:solidFill>
          <a:ln>
            <a:noFill/>
          </a:ln>
        </p:spPr>
        <p:style>
          <a:lnRef idx="1">
            <a:schemeClr val="accent1"/>
          </a:lnRef>
          <a:fillRef idx="3">
            <a:schemeClr val="accent1"/>
          </a:fillRef>
          <a:effectRef idx="2">
            <a:schemeClr val="accent1"/>
          </a:effectRef>
          <a:fontRef idx="minor">
            <a:schemeClr val="lt1"/>
          </a:fontRef>
        </p:style>
        <p:txBody>
          <a:bodyPr wrap="square" tIns="25400" bIns="25400" rtlCol="0" anchor="ctr"/>
          <a:lstStyle/>
          <a:p>
            <a:pPr algn="ctr"/>
            <a:r>
              <a:rPr sz="2000" b="1">
                <a:solidFill>
                  <a:srgbClr val="FFFFFF"/>
                </a:solidFill>
                <a:latin typeface="Segoe UI"/>
              </a:rPr>
              <a:t>Pérdida:</a:t>
            </a:r>
          </a:p>
          <a:p>
            <a:pPr algn="ctr"/>
            <a:r>
              <a:rPr sz="2000" b="1">
                <a:solidFill>
                  <a:srgbClr val="FFFFFF"/>
                </a:solidFill>
                <a:latin typeface="Segoe UI"/>
              </a:rPr>
              <a:t>Binary Cross-Entropy</a:t>
            </a:r>
          </a:p>
        </p:txBody>
      </p:sp>
      <p:sp>
        <p:nvSpPr>
          <p:cNvPr id="7" name="TextBox 6"/>
          <p:cNvSpPr txBox="1"/>
          <p:nvPr/>
        </p:nvSpPr>
        <p:spPr>
          <a:xfrm>
            <a:off x="731520" y="3383280"/>
            <a:ext cx="5486400" cy="2377440"/>
          </a:xfrm>
          <a:prstGeom prst="rect">
            <a:avLst/>
          </a:prstGeom>
          <a:noFill/>
        </p:spPr>
        <p:txBody>
          <a:bodyPr wrap="square" anchor="t">
            <a:spAutoFit/>
          </a:bodyPr>
          <a:lstStyle/>
          <a:p>
            <a:pPr algn="l">
              <a:spcAft>
                <a:spcPts val="800"/>
              </a:spcAft>
            </a:pPr>
            <a:r>
              <a:rPr sz="1500" b="0" i="0">
                <a:solidFill>
                  <a:srgbClr val="222B36"/>
                </a:solidFill>
                <a:latin typeface="Segoe UI"/>
              </a:rPr>
              <a:t>•  Función canónica de clasificación binaria</a:t>
            </a:r>
          </a:p>
          <a:p>
            <a:pPr algn="l">
              <a:spcAft>
                <a:spcPts val="800"/>
              </a:spcAft>
            </a:pPr>
            <a:r>
              <a:rPr sz="1500" b="1" i="0">
                <a:solidFill>
                  <a:srgbClr val="222B36"/>
                </a:solidFill>
                <a:latin typeface="Segoe UI"/>
              </a:rPr>
              <a:t>•  Penaliza fuerte cuando el modelo está seguro y se equivoca</a:t>
            </a:r>
          </a:p>
        </p:txBody>
      </p:sp>
      <p:sp>
        <p:nvSpPr>
          <p:cNvPr id="8" name="Rounded Rectangle 7"/>
          <p:cNvSpPr/>
          <p:nvPr/>
        </p:nvSpPr>
        <p:spPr>
          <a:xfrm>
            <a:off x="6400800" y="1828800"/>
            <a:ext cx="5120640" cy="1280160"/>
          </a:xfrm>
          <a:prstGeom prst="round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wrap="square" tIns="25400" bIns="25400" rtlCol="0" anchor="ctr"/>
          <a:lstStyle/>
          <a:p>
            <a:pPr algn="ctr"/>
            <a:r>
              <a:rPr sz="2000" b="1">
                <a:solidFill>
                  <a:srgbClr val="FFFFFF"/>
                </a:solidFill>
                <a:latin typeface="Segoe UI"/>
              </a:rPr>
              <a:t>Regularización:</a:t>
            </a:r>
          </a:p>
          <a:p>
            <a:pPr algn="ctr"/>
            <a:r>
              <a:rPr sz="2000" b="1">
                <a:solidFill>
                  <a:srgbClr val="FFFFFF"/>
                </a:solidFill>
                <a:latin typeface="Segoe UI"/>
              </a:rPr>
              <a:t>Dropout  +  L2</a:t>
            </a:r>
          </a:p>
        </p:txBody>
      </p:sp>
      <p:sp>
        <p:nvSpPr>
          <p:cNvPr id="9" name="TextBox 8"/>
          <p:cNvSpPr txBox="1"/>
          <p:nvPr/>
        </p:nvSpPr>
        <p:spPr>
          <a:xfrm>
            <a:off x="6492240" y="3383280"/>
            <a:ext cx="4937760" cy="2377440"/>
          </a:xfrm>
          <a:prstGeom prst="rect">
            <a:avLst/>
          </a:prstGeom>
          <a:noFill/>
        </p:spPr>
        <p:txBody>
          <a:bodyPr wrap="square" anchor="t">
            <a:spAutoFit/>
          </a:bodyPr>
          <a:lstStyle/>
          <a:p>
            <a:pPr algn="l">
              <a:spcAft>
                <a:spcPts val="800"/>
              </a:spcAft>
            </a:pPr>
            <a:r>
              <a:rPr sz="1500" b="0" i="0">
                <a:solidFill>
                  <a:srgbClr val="222B36"/>
                </a:solidFill>
                <a:latin typeface="Segoe UI"/>
              </a:rPr>
              <a:t>•  Contempladas para evitar sobreajuste</a:t>
            </a:r>
          </a:p>
          <a:p>
            <a:pPr algn="l">
              <a:spcAft>
                <a:spcPts val="800"/>
              </a:spcAft>
            </a:pPr>
            <a:r>
              <a:rPr sz="1500" b="1" i="0">
                <a:solidFill>
                  <a:srgbClr val="222B36"/>
                </a:solidFill>
                <a:latin typeface="Segoe UI"/>
              </a:rPr>
              <a:t>•  La búsqueda automática decide cuánta regularización hace falta realmente</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219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10896"/>
            <a:ext cx="10058400" cy="914400"/>
          </a:xfrm>
          <a:prstGeom prst="rect">
            <a:avLst/>
          </a:prstGeom>
          <a:noFill/>
        </p:spPr>
        <p:txBody>
          <a:bodyPr wrap="square" anchor="t">
            <a:spAutoFit/>
          </a:bodyPr>
          <a:lstStyle/>
          <a:p>
            <a:pPr algn="l">
              <a:spcAft>
                <a:spcPts val="400"/>
              </a:spcAft>
            </a:pPr>
            <a:r>
              <a:rPr sz="2800" b="1" i="0">
                <a:solidFill>
                  <a:srgbClr val="219A52"/>
                </a:solidFill>
                <a:latin typeface="Segoe UI"/>
              </a:rPr>
              <a:t>Búsqueda de hiperparámetros</a:t>
            </a:r>
          </a:p>
        </p:txBody>
      </p:sp>
      <p:sp>
        <p:nvSpPr>
          <p:cNvPr id="5" name="TextBox 4"/>
          <p:cNvSpPr txBox="1"/>
          <p:nvPr/>
        </p:nvSpPr>
        <p:spPr>
          <a:xfrm>
            <a:off x="893618" y="6446520"/>
            <a:ext cx="10810702" cy="246221"/>
          </a:xfrm>
          <a:prstGeom prst="rect">
            <a:avLst/>
          </a:prstGeom>
          <a:noFill/>
        </p:spPr>
        <p:txBody>
          <a:bodyPr wrap="square" anchor="t">
            <a:spAutoFit/>
          </a:bodyPr>
          <a:lstStyle/>
          <a:p>
            <a:pPr algn="r"/>
            <a:r>
              <a:rPr sz="1000">
                <a:solidFill>
                  <a:srgbClr val="6B7480"/>
                </a:solidFill>
                <a:latin typeface="Segoe UI"/>
              </a:rPr>
              <a:t>Diapositiva 9 / 20</a:t>
            </a:r>
          </a:p>
        </p:txBody>
      </p:sp>
      <p:graphicFrame>
        <p:nvGraphicFramePr>
          <p:cNvPr id="6" name="Table 5"/>
          <p:cNvGraphicFramePr>
            <a:graphicFrameLocks noGrp="1"/>
          </p:cNvGraphicFramePr>
          <p:nvPr/>
        </p:nvGraphicFramePr>
        <p:xfrm>
          <a:off x="640080" y="1600200"/>
          <a:ext cx="5760720" cy="356616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tblGrid>
              <a:tr h="594360">
                <a:tc>
                  <a:txBody>
                    <a:bodyPr/>
                    <a:lstStyle/>
                    <a:p>
                      <a:pPr algn="l"/>
                      <a:r>
                        <a:rPr sz="1400" b="1">
                          <a:solidFill>
                            <a:srgbClr val="FFFFFF"/>
                          </a:solidFill>
                          <a:latin typeface="Segoe UI"/>
                        </a:rPr>
                        <a:t>Hiperparámetro</a:t>
                      </a:r>
                    </a:p>
                  </a:txBody>
                  <a:tcPr>
                    <a:solidFill>
                      <a:srgbClr val="219A52"/>
                    </a:solidFill>
                  </a:tcPr>
                </a:tc>
                <a:tc>
                  <a:txBody>
                    <a:bodyPr/>
                    <a:lstStyle/>
                    <a:p>
                      <a:pPr algn="l"/>
                      <a:r>
                        <a:rPr sz="1400" b="1">
                          <a:solidFill>
                            <a:srgbClr val="FFFFFF"/>
                          </a:solidFill>
                          <a:latin typeface="Segoe UI"/>
                        </a:rPr>
                        <a:t>Espacio de búsqueda</a:t>
                      </a:r>
                    </a:p>
                  </a:txBody>
                  <a:tcPr>
                    <a:solidFill>
                      <a:srgbClr val="219A52"/>
                    </a:solidFill>
                  </a:tcPr>
                </a:tc>
                <a:extLst>
                  <a:ext uri="{0D108BD9-81ED-4DB2-BD59-A6C34878D82A}">
                    <a16:rowId xmlns:a16="http://schemas.microsoft.com/office/drawing/2014/main" val="10000"/>
                  </a:ext>
                </a:extLst>
              </a:tr>
              <a:tr h="594360">
                <a:tc>
                  <a:txBody>
                    <a:bodyPr/>
                    <a:lstStyle/>
                    <a:p>
                      <a:pPr algn="l"/>
                      <a:r>
                        <a:rPr sz="1400">
                          <a:solidFill>
                            <a:srgbClr val="222B36"/>
                          </a:solidFill>
                          <a:latin typeface="Segoe UI"/>
                        </a:rPr>
                        <a:t>Neuronas / capa</a:t>
                      </a:r>
                    </a:p>
                  </a:txBody>
                  <a:tcPr>
                    <a:solidFill>
                      <a:srgbClr val="FFFFFF"/>
                    </a:solidFill>
                  </a:tcPr>
                </a:tc>
                <a:tc>
                  <a:txBody>
                    <a:bodyPr/>
                    <a:lstStyle/>
                    <a:p>
                      <a:pPr algn="l"/>
                      <a:r>
                        <a:rPr sz="1400">
                          <a:solidFill>
                            <a:srgbClr val="222B36"/>
                          </a:solidFill>
                          <a:latin typeface="Segoe UI"/>
                        </a:rPr>
                        <a:t>16 · 32 · 64</a:t>
                      </a:r>
                    </a:p>
                  </a:txBody>
                  <a:tcPr>
                    <a:solidFill>
                      <a:srgbClr val="FFFFFF"/>
                    </a:solidFill>
                  </a:tcPr>
                </a:tc>
                <a:extLst>
                  <a:ext uri="{0D108BD9-81ED-4DB2-BD59-A6C34878D82A}">
                    <a16:rowId xmlns:a16="http://schemas.microsoft.com/office/drawing/2014/main" val="10001"/>
                  </a:ext>
                </a:extLst>
              </a:tr>
              <a:tr h="594360">
                <a:tc>
                  <a:txBody>
                    <a:bodyPr/>
                    <a:lstStyle/>
                    <a:p>
                      <a:pPr algn="l"/>
                      <a:r>
                        <a:rPr sz="1400">
                          <a:solidFill>
                            <a:srgbClr val="222B36"/>
                          </a:solidFill>
                          <a:latin typeface="Segoe UI"/>
                        </a:rPr>
                        <a:t>Learning rate</a:t>
                      </a:r>
                    </a:p>
                  </a:txBody>
                  <a:tcPr>
                    <a:solidFill>
                      <a:srgbClr val="F2F4F7"/>
                    </a:solidFill>
                  </a:tcPr>
                </a:tc>
                <a:tc>
                  <a:txBody>
                    <a:bodyPr/>
                    <a:lstStyle/>
                    <a:p>
                      <a:pPr algn="l"/>
                      <a:r>
                        <a:rPr sz="1400">
                          <a:solidFill>
                            <a:srgbClr val="222B36"/>
                          </a:solidFill>
                          <a:latin typeface="Segoe UI"/>
                        </a:rPr>
                        <a:t>0.001 · 0.01</a:t>
                      </a:r>
                    </a:p>
                  </a:txBody>
                  <a:tcPr>
                    <a:solidFill>
                      <a:srgbClr val="F2F4F7"/>
                    </a:solidFill>
                  </a:tcPr>
                </a:tc>
                <a:extLst>
                  <a:ext uri="{0D108BD9-81ED-4DB2-BD59-A6C34878D82A}">
                    <a16:rowId xmlns:a16="http://schemas.microsoft.com/office/drawing/2014/main" val="10002"/>
                  </a:ext>
                </a:extLst>
              </a:tr>
              <a:tr h="594360">
                <a:tc>
                  <a:txBody>
                    <a:bodyPr/>
                    <a:lstStyle/>
                    <a:p>
                      <a:pPr algn="l"/>
                      <a:r>
                        <a:rPr sz="1400">
                          <a:solidFill>
                            <a:srgbClr val="222B36"/>
                          </a:solidFill>
                          <a:latin typeface="Segoe UI"/>
                        </a:rPr>
                        <a:t>Dropout</a:t>
                      </a:r>
                    </a:p>
                  </a:txBody>
                  <a:tcPr>
                    <a:solidFill>
                      <a:srgbClr val="FFFFFF"/>
                    </a:solidFill>
                  </a:tcPr>
                </a:tc>
                <a:tc>
                  <a:txBody>
                    <a:bodyPr/>
                    <a:lstStyle/>
                    <a:p>
                      <a:pPr algn="l"/>
                      <a:r>
                        <a:rPr sz="1400">
                          <a:solidFill>
                            <a:srgbClr val="222B36"/>
                          </a:solidFill>
                          <a:latin typeface="Segoe UI"/>
                        </a:rPr>
                        <a:t>0 · 0.2 · 0.5</a:t>
                      </a:r>
                    </a:p>
                  </a:txBody>
                  <a:tcPr>
                    <a:solidFill>
                      <a:srgbClr val="FFFFFF"/>
                    </a:solidFill>
                  </a:tcPr>
                </a:tc>
                <a:extLst>
                  <a:ext uri="{0D108BD9-81ED-4DB2-BD59-A6C34878D82A}">
                    <a16:rowId xmlns:a16="http://schemas.microsoft.com/office/drawing/2014/main" val="10003"/>
                  </a:ext>
                </a:extLst>
              </a:tr>
              <a:tr h="594360">
                <a:tc>
                  <a:txBody>
                    <a:bodyPr/>
                    <a:lstStyle/>
                    <a:p>
                      <a:pPr algn="l"/>
                      <a:r>
                        <a:rPr sz="1400">
                          <a:solidFill>
                            <a:srgbClr val="222B36"/>
                          </a:solidFill>
                          <a:latin typeface="Segoe UI"/>
                        </a:rPr>
                        <a:t>Regularización L2</a:t>
                      </a:r>
                    </a:p>
                  </a:txBody>
                  <a:tcPr>
                    <a:solidFill>
                      <a:srgbClr val="F2F4F7"/>
                    </a:solidFill>
                  </a:tcPr>
                </a:tc>
                <a:tc>
                  <a:txBody>
                    <a:bodyPr/>
                    <a:lstStyle/>
                    <a:p>
                      <a:pPr algn="l"/>
                      <a:r>
                        <a:rPr sz="1400">
                          <a:solidFill>
                            <a:srgbClr val="222B36"/>
                          </a:solidFill>
                          <a:latin typeface="Segoe UI"/>
                        </a:rPr>
                        <a:t>0 · 1e-4 · 1e-3</a:t>
                      </a:r>
                    </a:p>
                  </a:txBody>
                  <a:tcPr>
                    <a:solidFill>
                      <a:srgbClr val="F2F4F7"/>
                    </a:solidFill>
                  </a:tcPr>
                </a:tc>
                <a:extLst>
                  <a:ext uri="{0D108BD9-81ED-4DB2-BD59-A6C34878D82A}">
                    <a16:rowId xmlns:a16="http://schemas.microsoft.com/office/drawing/2014/main" val="10004"/>
                  </a:ext>
                </a:extLst>
              </a:tr>
              <a:tr h="594360">
                <a:tc>
                  <a:txBody>
                    <a:bodyPr/>
                    <a:lstStyle/>
                    <a:p>
                      <a:pPr algn="l"/>
                      <a:r>
                        <a:rPr sz="1400">
                          <a:solidFill>
                            <a:srgbClr val="222B36"/>
                          </a:solidFill>
                          <a:latin typeface="Segoe UI"/>
                        </a:rPr>
                        <a:t>Optimizador</a:t>
                      </a:r>
                    </a:p>
                  </a:txBody>
                  <a:tcPr>
                    <a:solidFill>
                      <a:srgbClr val="FFFFFF"/>
                    </a:solidFill>
                  </a:tcPr>
                </a:tc>
                <a:tc>
                  <a:txBody>
                    <a:bodyPr/>
                    <a:lstStyle/>
                    <a:p>
                      <a:pPr algn="l"/>
                      <a:r>
                        <a:rPr sz="1400">
                          <a:solidFill>
                            <a:srgbClr val="222B36"/>
                          </a:solidFill>
                          <a:latin typeface="Segoe UI"/>
                        </a:rPr>
                        <a:t>Adam · RMSprop</a:t>
                      </a:r>
                    </a:p>
                  </a:txBody>
                  <a:tcPr>
                    <a:solidFill>
                      <a:srgbClr val="FFFFFF"/>
                    </a:solidFill>
                  </a:tcPr>
                </a:tc>
                <a:extLst>
                  <a:ext uri="{0D108BD9-81ED-4DB2-BD59-A6C34878D82A}">
                    <a16:rowId xmlns:a16="http://schemas.microsoft.com/office/drawing/2014/main" val="10005"/>
                  </a:ext>
                </a:extLst>
              </a:tr>
            </a:tbl>
          </a:graphicData>
        </a:graphic>
      </p:graphicFrame>
      <p:sp>
        <p:nvSpPr>
          <p:cNvPr id="7" name="TextBox 6"/>
          <p:cNvSpPr txBox="1"/>
          <p:nvPr/>
        </p:nvSpPr>
        <p:spPr>
          <a:xfrm>
            <a:off x="6675120" y="1828800"/>
            <a:ext cx="4937760" cy="4206240"/>
          </a:xfrm>
          <a:prstGeom prst="rect">
            <a:avLst/>
          </a:prstGeom>
          <a:noFill/>
        </p:spPr>
        <p:txBody>
          <a:bodyPr wrap="square" anchor="t">
            <a:spAutoFit/>
          </a:bodyPr>
          <a:lstStyle/>
          <a:p>
            <a:pPr algn="l">
              <a:spcAft>
                <a:spcPts val="800"/>
              </a:spcAft>
            </a:pPr>
            <a:r>
              <a:rPr sz="1500" b="1" i="0">
                <a:solidFill>
                  <a:srgbClr val="222B36"/>
                </a:solidFill>
                <a:latin typeface="Segoe UI"/>
              </a:rPr>
              <a:t>•  Keras Tuner — RandomSearch</a:t>
            </a:r>
          </a:p>
          <a:p>
            <a:pPr algn="l">
              <a:spcAft>
                <a:spcPts val="800"/>
              </a:spcAft>
            </a:pPr>
            <a:r>
              <a:rPr sz="1500" b="0" i="0">
                <a:solidFill>
                  <a:srgbClr val="222B36"/>
                </a:solidFill>
                <a:latin typeface="Segoe UI"/>
              </a:rPr>
              <a:t>•  50 ensayos sobre ~1000 combinaciones</a:t>
            </a:r>
          </a:p>
          <a:p>
            <a:pPr algn="l">
              <a:spcAft>
                <a:spcPts val="800"/>
              </a:spcAft>
            </a:pPr>
            <a:r>
              <a:rPr sz="1500" b="1" i="0">
                <a:solidFill>
                  <a:srgbClr val="222B36"/>
                </a:solidFill>
                <a:latin typeface="Segoe UI"/>
              </a:rPr>
              <a:t>•  Optimizamos val_loss, NO accuracy</a:t>
            </a:r>
          </a:p>
          <a:p>
            <a:pPr algn="l">
              <a:spcAft>
                <a:spcPts val="800"/>
              </a:spcAft>
            </a:pPr>
            <a:r>
              <a:rPr sz="1500" b="0" i="0">
                <a:solidFill>
                  <a:srgbClr val="222B36"/>
                </a:solidFill>
                <a:latin typeface="Segoe UI"/>
              </a:rPr>
              <a:t>•  En fallas industriales importa estimar bien la probabilidad, no solo acertar la etiqueta</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219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10896"/>
            <a:ext cx="10058400" cy="914400"/>
          </a:xfrm>
          <a:prstGeom prst="rect">
            <a:avLst/>
          </a:prstGeom>
          <a:noFill/>
        </p:spPr>
        <p:txBody>
          <a:bodyPr wrap="square" anchor="t">
            <a:spAutoFit/>
          </a:bodyPr>
          <a:lstStyle/>
          <a:p>
            <a:pPr algn="l">
              <a:spcAft>
                <a:spcPts val="400"/>
              </a:spcAft>
            </a:pPr>
            <a:r>
              <a:rPr sz="2800" b="1" i="0">
                <a:solidFill>
                  <a:srgbClr val="219A52"/>
                </a:solidFill>
                <a:latin typeface="Segoe UI"/>
              </a:rPr>
              <a:t>Configuración óptima y entrenamiento</a:t>
            </a:r>
          </a:p>
        </p:txBody>
      </p:sp>
      <p:sp>
        <p:nvSpPr>
          <p:cNvPr id="5" name="TextBox 4"/>
          <p:cNvSpPr txBox="1"/>
          <p:nvPr/>
        </p:nvSpPr>
        <p:spPr>
          <a:xfrm>
            <a:off x="945572" y="6446520"/>
            <a:ext cx="10758747" cy="246221"/>
          </a:xfrm>
          <a:prstGeom prst="rect">
            <a:avLst/>
          </a:prstGeom>
          <a:noFill/>
        </p:spPr>
        <p:txBody>
          <a:bodyPr wrap="square" anchor="t">
            <a:spAutoFit/>
          </a:bodyPr>
          <a:lstStyle/>
          <a:p>
            <a:pPr algn="r"/>
            <a:r>
              <a:rPr sz="1000">
                <a:solidFill>
                  <a:srgbClr val="6B7480"/>
                </a:solidFill>
                <a:latin typeface="Segoe UI"/>
              </a:rPr>
              <a:t>Diapositiva 10 / 20</a:t>
            </a:r>
          </a:p>
        </p:txBody>
      </p:sp>
      <p:pic>
        <p:nvPicPr>
          <p:cNvPr id="6" name="Picture 5" descr="ia_02_cell22.png"/>
          <p:cNvPicPr>
            <a:picLocks noChangeAspect="1"/>
          </p:cNvPicPr>
          <p:nvPr/>
        </p:nvPicPr>
        <p:blipFill>
          <a:blip r:embed="rId3"/>
          <a:stretch>
            <a:fillRect/>
          </a:stretch>
        </p:blipFill>
        <p:spPr>
          <a:xfrm>
            <a:off x="502920" y="1955821"/>
            <a:ext cx="7315200" cy="2580596"/>
          </a:xfrm>
          <a:prstGeom prst="rect">
            <a:avLst/>
          </a:prstGeom>
          <a:ln w="9525">
            <a:solidFill>
              <a:srgbClr val="DDDDDD"/>
            </a:solidFill>
          </a:ln>
        </p:spPr>
      </p:pic>
      <p:sp>
        <p:nvSpPr>
          <p:cNvPr id="7" name="TextBox 6"/>
          <p:cNvSpPr txBox="1"/>
          <p:nvPr/>
        </p:nvSpPr>
        <p:spPr>
          <a:xfrm>
            <a:off x="7955279" y="1645920"/>
            <a:ext cx="3840480" cy="4572000"/>
          </a:xfrm>
          <a:prstGeom prst="rect">
            <a:avLst/>
          </a:prstGeom>
          <a:noFill/>
        </p:spPr>
        <p:txBody>
          <a:bodyPr wrap="square" anchor="t">
            <a:spAutoFit/>
          </a:bodyPr>
          <a:lstStyle/>
          <a:p>
            <a:pPr algn="l">
              <a:spcAft>
                <a:spcPts val="800"/>
              </a:spcAft>
            </a:pPr>
            <a:r>
              <a:rPr sz="1500" b="1" i="0">
                <a:solidFill>
                  <a:srgbClr val="222B36"/>
                </a:solidFill>
                <a:latin typeface="Segoe UI"/>
              </a:rPr>
              <a:t>•  Adam · lr 0.01 · batch 64</a:t>
            </a:r>
          </a:p>
          <a:p>
            <a:pPr algn="l">
              <a:spcAft>
                <a:spcPts val="800"/>
              </a:spcAft>
            </a:pPr>
            <a:r>
              <a:rPr sz="1500" b="0" i="0">
                <a:solidFill>
                  <a:srgbClr val="222B36"/>
                </a:solidFill>
                <a:latin typeface="Segoe UI"/>
              </a:rPr>
              <a:t>•  Sin Dropout ni L2: la red era tan chica que no los necesitó</a:t>
            </a:r>
          </a:p>
          <a:p>
            <a:pPr algn="l">
              <a:spcAft>
                <a:spcPts val="800"/>
              </a:spcAft>
            </a:pPr>
            <a:r>
              <a:rPr sz="1500" b="1" i="0">
                <a:solidFill>
                  <a:srgbClr val="222B36"/>
                </a:solidFill>
                <a:latin typeface="Segoe UI"/>
              </a:rPr>
              <a:t>•  EarlyStopping: frena al dejar de mejorar</a:t>
            </a:r>
          </a:p>
          <a:p>
            <a:pPr algn="l">
              <a:spcAft>
                <a:spcPts val="800"/>
              </a:spcAft>
            </a:pPr>
            <a:r>
              <a:rPr sz="1500" b="0" i="0">
                <a:solidFill>
                  <a:srgbClr val="222B36"/>
                </a:solidFill>
                <a:latin typeface="Segoe UI"/>
              </a:rPr>
              <a:t>•  Curvas que convergen bien; validación algo inestable (dataset acotado)</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CD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10896"/>
            <a:ext cx="10058400" cy="914400"/>
          </a:xfrm>
          <a:prstGeom prst="rect">
            <a:avLst/>
          </a:prstGeom>
          <a:noFill/>
        </p:spPr>
        <p:txBody>
          <a:bodyPr wrap="square" anchor="t">
            <a:spAutoFit/>
          </a:bodyPr>
          <a:lstStyle/>
          <a:p>
            <a:pPr algn="l">
              <a:spcAft>
                <a:spcPts val="400"/>
              </a:spcAft>
            </a:pPr>
            <a:r>
              <a:rPr sz="2800" b="1" i="0">
                <a:solidFill>
                  <a:srgbClr val="CD8A00"/>
                </a:solidFill>
                <a:latin typeface="Segoe UI"/>
              </a:rPr>
              <a:t>¿Por qué la red es sensible a la escala?</a:t>
            </a:r>
          </a:p>
        </p:txBody>
      </p:sp>
      <p:sp>
        <p:nvSpPr>
          <p:cNvPr id="5" name="TextBox 4"/>
          <p:cNvSpPr txBox="1"/>
          <p:nvPr/>
        </p:nvSpPr>
        <p:spPr>
          <a:xfrm>
            <a:off x="987136" y="6446520"/>
            <a:ext cx="10717184" cy="246221"/>
          </a:xfrm>
          <a:prstGeom prst="rect">
            <a:avLst/>
          </a:prstGeom>
          <a:noFill/>
        </p:spPr>
        <p:txBody>
          <a:bodyPr wrap="square" anchor="t">
            <a:spAutoFit/>
          </a:bodyPr>
          <a:lstStyle/>
          <a:p>
            <a:pPr algn="r"/>
            <a:r>
              <a:rPr sz="1000">
                <a:solidFill>
                  <a:srgbClr val="6B7480"/>
                </a:solidFill>
                <a:latin typeface="Segoe UI"/>
              </a:rPr>
              <a:t>Diapositiva 11 / 20</a:t>
            </a:r>
          </a:p>
        </p:txBody>
      </p:sp>
      <p:pic>
        <p:nvPicPr>
          <p:cNvPr id="6" name="Picture 5" descr="cdd_04_cell20.png"/>
          <p:cNvPicPr>
            <a:picLocks noChangeAspect="1"/>
          </p:cNvPicPr>
          <p:nvPr/>
        </p:nvPicPr>
        <p:blipFill>
          <a:blip r:embed="rId3"/>
          <a:stretch>
            <a:fillRect/>
          </a:stretch>
        </p:blipFill>
        <p:spPr>
          <a:xfrm>
            <a:off x="502920" y="1641949"/>
            <a:ext cx="7498079" cy="4305620"/>
          </a:xfrm>
          <a:prstGeom prst="rect">
            <a:avLst/>
          </a:prstGeom>
          <a:ln w="9525">
            <a:solidFill>
              <a:srgbClr val="DDDDDD"/>
            </a:solidFill>
          </a:ln>
        </p:spPr>
      </p:pic>
      <p:sp>
        <p:nvSpPr>
          <p:cNvPr id="7" name="TextBox 6"/>
          <p:cNvSpPr txBox="1"/>
          <p:nvPr/>
        </p:nvSpPr>
        <p:spPr>
          <a:xfrm>
            <a:off x="8138160" y="1737360"/>
            <a:ext cx="3657600" cy="4389120"/>
          </a:xfrm>
          <a:prstGeom prst="rect">
            <a:avLst/>
          </a:prstGeom>
          <a:noFill/>
        </p:spPr>
        <p:txBody>
          <a:bodyPr wrap="square" anchor="t">
            <a:spAutoFit/>
          </a:bodyPr>
          <a:lstStyle/>
          <a:p>
            <a:pPr algn="l">
              <a:spcAft>
                <a:spcPts val="800"/>
              </a:spcAft>
            </a:pPr>
            <a:r>
              <a:rPr sz="1500" b="1" i="0">
                <a:solidFill>
                  <a:srgbClr val="222B36"/>
                </a:solidFill>
                <a:latin typeface="Segoe UI"/>
              </a:rPr>
              <a:t>•  Escalas muy dispares:</a:t>
            </a:r>
          </a:p>
          <a:p>
            <a:pPr algn="l">
              <a:spcAft>
                <a:spcPts val="800"/>
              </a:spcAft>
            </a:pPr>
            <a:r>
              <a:rPr sz="1500" b="0" i="0">
                <a:solidFill>
                  <a:srgbClr val="222B36"/>
                </a:solidFill>
                <a:latin typeface="Segoe UI"/>
              </a:rPr>
              <a:t>•  RPM rondan los miles</a:t>
            </a:r>
          </a:p>
          <a:p>
            <a:pPr algn="l">
              <a:spcAft>
                <a:spcPts val="800"/>
              </a:spcAft>
            </a:pPr>
            <a:r>
              <a:rPr sz="1500" b="0" i="0">
                <a:solidFill>
                  <a:srgbClr val="222B36"/>
                </a:solidFill>
                <a:latin typeface="Segoe UI"/>
              </a:rPr>
              <a:t>•  temperaturas apenas decenas</a:t>
            </a:r>
          </a:p>
          <a:p>
            <a:pPr algn="l">
              <a:spcAft>
                <a:spcPts val="800"/>
              </a:spcAft>
            </a:pPr>
            <a:r>
              <a:rPr sz="1500" b="1" i="0">
                <a:solidFill>
                  <a:srgbClr val="222B36"/>
                </a:solidFill>
                <a:latin typeface="Segoe UI"/>
              </a:rPr>
              <a:t>•  La red aprende por descenso de gradiente, muy sensible a la escala</a:t>
            </a:r>
          </a:p>
          <a:p>
            <a:pPr algn="l">
              <a:spcAft>
                <a:spcPts val="800"/>
              </a:spcAft>
            </a:pPr>
            <a:r>
              <a:rPr sz="1500" b="0" i="0">
                <a:solidFill>
                  <a:srgbClr val="222B36"/>
                </a:solidFill>
                <a:latin typeface="Segoe UI"/>
              </a:rPr>
              <a:t>•  Sin tratamiento, las RPM aplastarían a las demás variables</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CD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10896"/>
            <a:ext cx="10058400" cy="914400"/>
          </a:xfrm>
          <a:prstGeom prst="rect">
            <a:avLst/>
          </a:prstGeom>
          <a:noFill/>
        </p:spPr>
        <p:txBody>
          <a:bodyPr wrap="square" anchor="t">
            <a:spAutoFit/>
          </a:bodyPr>
          <a:lstStyle/>
          <a:p>
            <a:pPr algn="l">
              <a:spcAft>
                <a:spcPts val="400"/>
              </a:spcAft>
            </a:pPr>
            <a:r>
              <a:rPr sz="2800" b="1" i="0">
                <a:solidFill>
                  <a:srgbClr val="CD8A00"/>
                </a:solidFill>
                <a:latin typeface="Segoe UI"/>
              </a:rPr>
              <a:t>El impacto de estandarizar en la red</a:t>
            </a:r>
          </a:p>
        </p:txBody>
      </p:sp>
      <p:sp>
        <p:nvSpPr>
          <p:cNvPr id="5" name="TextBox 4"/>
          <p:cNvSpPr txBox="1"/>
          <p:nvPr/>
        </p:nvSpPr>
        <p:spPr>
          <a:xfrm>
            <a:off x="1433944" y="6446520"/>
            <a:ext cx="10270375" cy="246221"/>
          </a:xfrm>
          <a:prstGeom prst="rect">
            <a:avLst/>
          </a:prstGeom>
          <a:noFill/>
        </p:spPr>
        <p:txBody>
          <a:bodyPr wrap="square" anchor="t">
            <a:spAutoFit/>
          </a:bodyPr>
          <a:lstStyle/>
          <a:p>
            <a:pPr algn="r"/>
            <a:r>
              <a:rPr sz="1000">
                <a:solidFill>
                  <a:srgbClr val="6B7480"/>
                </a:solidFill>
                <a:latin typeface="Segoe UI"/>
              </a:rPr>
              <a:t>Diapositiva 12 / 20</a:t>
            </a:r>
          </a:p>
        </p:txBody>
      </p:sp>
      <p:sp>
        <p:nvSpPr>
          <p:cNvPr id="6" name="Rounded Rectangle 5"/>
          <p:cNvSpPr/>
          <p:nvPr/>
        </p:nvSpPr>
        <p:spPr>
          <a:xfrm>
            <a:off x="2377440" y="2011680"/>
            <a:ext cx="7406640" cy="1371600"/>
          </a:xfrm>
          <a:prstGeom prst="roundRect">
            <a:avLst/>
          </a:prstGeom>
          <a:solidFill>
            <a:srgbClr val="CD8A00"/>
          </a:solidFill>
          <a:ln>
            <a:noFill/>
          </a:ln>
        </p:spPr>
        <p:style>
          <a:lnRef idx="1">
            <a:schemeClr val="accent1"/>
          </a:lnRef>
          <a:fillRef idx="3">
            <a:schemeClr val="accent1"/>
          </a:fillRef>
          <a:effectRef idx="2">
            <a:schemeClr val="accent1"/>
          </a:effectRef>
          <a:fontRef idx="minor">
            <a:schemeClr val="lt1"/>
          </a:fontRef>
        </p:style>
        <p:txBody>
          <a:bodyPr wrap="square" tIns="25400" bIns="25400" rtlCol="0" anchor="ctr"/>
          <a:lstStyle/>
          <a:p>
            <a:pPr algn="ctr"/>
            <a:r>
              <a:rPr sz="3000" b="1">
                <a:solidFill>
                  <a:srgbClr val="FFFFFF"/>
                </a:solidFill>
                <a:latin typeface="Segoe UI"/>
              </a:rPr>
              <a:t>z  =  ( x − μ )  /  σ</a:t>
            </a:r>
          </a:p>
        </p:txBody>
      </p:sp>
      <p:sp>
        <p:nvSpPr>
          <p:cNvPr id="7" name="Rounded Rectangle 6"/>
          <p:cNvSpPr/>
          <p:nvPr/>
        </p:nvSpPr>
        <p:spPr>
          <a:xfrm>
            <a:off x="2377440" y="3520440"/>
            <a:ext cx="3566160" cy="77724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wrap="square" tIns="25400" bIns="25400" rtlCol="0" anchor="ctr"/>
          <a:lstStyle/>
          <a:p>
            <a:pPr algn="ctr"/>
            <a:r>
              <a:rPr sz="1800" b="1">
                <a:solidFill>
                  <a:srgbClr val="CD8A00"/>
                </a:solidFill>
                <a:latin typeface="Segoe UI"/>
              </a:rPr>
              <a:t>media 0</a:t>
            </a:r>
          </a:p>
        </p:txBody>
      </p:sp>
      <p:sp>
        <p:nvSpPr>
          <p:cNvPr id="8" name="Rounded Rectangle 7"/>
          <p:cNvSpPr/>
          <p:nvPr/>
        </p:nvSpPr>
        <p:spPr>
          <a:xfrm>
            <a:off x="6217920" y="3520440"/>
            <a:ext cx="3566160" cy="77724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wrap="square" tIns="25400" bIns="25400" rtlCol="0" anchor="ctr"/>
          <a:lstStyle/>
          <a:p>
            <a:pPr algn="ctr"/>
            <a:r>
              <a:rPr sz="1800" b="1">
                <a:solidFill>
                  <a:srgbClr val="CD8A00"/>
                </a:solidFill>
                <a:latin typeface="Segoe UI"/>
              </a:rPr>
              <a:t>desvío 1</a:t>
            </a:r>
          </a:p>
        </p:txBody>
      </p:sp>
      <p:sp>
        <p:nvSpPr>
          <p:cNvPr id="9" name="TextBox 8"/>
          <p:cNvSpPr txBox="1"/>
          <p:nvPr/>
        </p:nvSpPr>
        <p:spPr>
          <a:xfrm>
            <a:off x="1280160" y="4572000"/>
            <a:ext cx="9601200" cy="1737360"/>
          </a:xfrm>
          <a:prstGeom prst="rect">
            <a:avLst/>
          </a:prstGeom>
          <a:noFill/>
        </p:spPr>
        <p:txBody>
          <a:bodyPr wrap="square" anchor="t">
            <a:spAutoFit/>
          </a:bodyPr>
          <a:lstStyle/>
          <a:p>
            <a:pPr algn="l">
              <a:spcAft>
                <a:spcPts val="800"/>
              </a:spcAft>
            </a:pPr>
            <a:r>
              <a:rPr sz="1600" b="1" i="0">
                <a:solidFill>
                  <a:srgbClr val="222B36"/>
                </a:solidFill>
                <a:latin typeface="Segoe UI"/>
              </a:rPr>
              <a:t>•  El gradiente se mueve en terreno parejo → converge más rápido y estable</a:t>
            </a:r>
          </a:p>
          <a:p>
            <a:pPr algn="l">
              <a:spcAft>
                <a:spcPts val="800"/>
              </a:spcAft>
            </a:pPr>
            <a:r>
              <a:rPr sz="1600" b="0" i="0">
                <a:solidFill>
                  <a:srgbClr val="222B36"/>
                </a:solidFill>
                <a:latin typeface="Segoe UI"/>
              </a:rPr>
              <a:t>•  Todas las variables compiten en igualdad de condiciones</a:t>
            </a:r>
          </a:p>
          <a:p>
            <a:pPr algn="l">
              <a:spcAft>
                <a:spcPts val="800"/>
              </a:spcAft>
            </a:pPr>
            <a:r>
              <a:rPr sz="1600" b="1" i="0">
                <a:solidFill>
                  <a:srgbClr val="222B36"/>
                </a:solidFill>
                <a:latin typeface="Segoe UI"/>
              </a:rPr>
              <a:t>•  Para el MLP no es opcional: es condición para que entrene bien</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CD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10896"/>
            <a:ext cx="10058400" cy="914400"/>
          </a:xfrm>
          <a:prstGeom prst="rect">
            <a:avLst/>
          </a:prstGeom>
          <a:noFill/>
        </p:spPr>
        <p:txBody>
          <a:bodyPr wrap="square" anchor="t">
            <a:spAutoFit/>
          </a:bodyPr>
          <a:lstStyle/>
          <a:p>
            <a:pPr algn="l">
              <a:spcAft>
                <a:spcPts val="400"/>
              </a:spcAft>
            </a:pPr>
            <a:r>
              <a:rPr sz="2800" b="1" i="0">
                <a:solidFill>
                  <a:srgbClr val="CD8A00"/>
                </a:solidFill>
                <a:latin typeface="Segoe UI"/>
              </a:rPr>
              <a:t>Comparación con los modelos de la Parte 2</a:t>
            </a:r>
          </a:p>
        </p:txBody>
      </p:sp>
      <p:sp>
        <p:nvSpPr>
          <p:cNvPr id="5" name="TextBox 4"/>
          <p:cNvSpPr txBox="1"/>
          <p:nvPr/>
        </p:nvSpPr>
        <p:spPr>
          <a:xfrm>
            <a:off x="1153390" y="6446520"/>
            <a:ext cx="10550929" cy="246221"/>
          </a:xfrm>
          <a:prstGeom prst="rect">
            <a:avLst/>
          </a:prstGeom>
          <a:noFill/>
        </p:spPr>
        <p:txBody>
          <a:bodyPr wrap="square" anchor="t">
            <a:spAutoFit/>
          </a:bodyPr>
          <a:lstStyle/>
          <a:p>
            <a:pPr algn="r"/>
            <a:r>
              <a:rPr sz="1000">
                <a:solidFill>
                  <a:srgbClr val="6B7480"/>
                </a:solidFill>
                <a:latin typeface="Segoe UI"/>
              </a:rPr>
              <a:t>Diapositiva 13 / 20</a:t>
            </a:r>
          </a:p>
        </p:txBody>
      </p:sp>
      <p:graphicFrame>
        <p:nvGraphicFramePr>
          <p:cNvPr id="6" name="Table 5"/>
          <p:cNvGraphicFramePr>
            <a:graphicFrameLocks noGrp="1"/>
          </p:cNvGraphicFramePr>
          <p:nvPr/>
        </p:nvGraphicFramePr>
        <p:xfrm>
          <a:off x="640080" y="1737360"/>
          <a:ext cx="10881360" cy="310896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5029200">
                  <a:extLst>
                    <a:ext uri="{9D8B030D-6E8A-4147-A177-3AD203B41FA5}">
                      <a16:colId xmlns:a16="http://schemas.microsoft.com/office/drawing/2014/main" val="20002"/>
                    </a:ext>
                  </a:extLst>
                </a:gridCol>
              </a:tblGrid>
              <a:tr h="621792">
                <a:tc>
                  <a:txBody>
                    <a:bodyPr/>
                    <a:lstStyle/>
                    <a:p>
                      <a:pPr algn="l"/>
                      <a:r>
                        <a:rPr sz="1500" b="1">
                          <a:solidFill>
                            <a:srgbClr val="FFFFFF"/>
                          </a:solidFill>
                          <a:latin typeface="Segoe UI"/>
                        </a:rPr>
                        <a:t>Modelo</a:t>
                      </a:r>
                    </a:p>
                  </a:txBody>
                  <a:tcPr>
                    <a:solidFill>
                      <a:srgbClr val="CD8A00"/>
                    </a:solidFill>
                  </a:tcPr>
                </a:tc>
                <a:tc>
                  <a:txBody>
                    <a:bodyPr/>
                    <a:lstStyle/>
                    <a:p>
                      <a:pPr algn="l"/>
                      <a:r>
                        <a:rPr sz="1500" b="1">
                          <a:solidFill>
                            <a:srgbClr val="FFFFFF"/>
                          </a:solidFill>
                          <a:latin typeface="Segoe UI"/>
                        </a:rPr>
                        <a:t>¿Sensible a la escala?</a:t>
                      </a:r>
                    </a:p>
                  </a:txBody>
                  <a:tcPr>
                    <a:solidFill>
                      <a:srgbClr val="CD8A00"/>
                    </a:solidFill>
                  </a:tcPr>
                </a:tc>
                <a:tc>
                  <a:txBody>
                    <a:bodyPr/>
                    <a:lstStyle/>
                    <a:p>
                      <a:pPr algn="l"/>
                      <a:r>
                        <a:rPr sz="1500" b="1">
                          <a:solidFill>
                            <a:srgbClr val="FFFFFF"/>
                          </a:solidFill>
                          <a:latin typeface="Segoe UI"/>
                        </a:rPr>
                        <a:t>Por qué</a:t>
                      </a:r>
                    </a:p>
                  </a:txBody>
                  <a:tcPr>
                    <a:solidFill>
                      <a:srgbClr val="CD8A00"/>
                    </a:solidFill>
                  </a:tcPr>
                </a:tc>
                <a:extLst>
                  <a:ext uri="{0D108BD9-81ED-4DB2-BD59-A6C34878D82A}">
                    <a16:rowId xmlns:a16="http://schemas.microsoft.com/office/drawing/2014/main" val="10000"/>
                  </a:ext>
                </a:extLst>
              </a:tr>
              <a:tr h="621792">
                <a:tc>
                  <a:txBody>
                    <a:bodyPr/>
                    <a:lstStyle/>
                    <a:p>
                      <a:pPr algn="l"/>
                      <a:r>
                        <a:rPr sz="1500" b="0">
                          <a:solidFill>
                            <a:srgbClr val="222B36"/>
                          </a:solidFill>
                          <a:latin typeface="Segoe UI"/>
                        </a:rPr>
                        <a:t>MLP (red)</a:t>
                      </a:r>
                    </a:p>
                  </a:txBody>
                  <a:tcPr>
                    <a:solidFill>
                      <a:srgbClr val="FFFFFF"/>
                    </a:solidFill>
                  </a:tcPr>
                </a:tc>
                <a:tc>
                  <a:txBody>
                    <a:bodyPr/>
                    <a:lstStyle/>
                    <a:p>
                      <a:pPr algn="l"/>
                      <a:r>
                        <a:rPr sz="1500" b="1">
                          <a:solidFill>
                            <a:srgbClr val="222B36"/>
                          </a:solidFill>
                          <a:latin typeface="Segoe UI"/>
                        </a:rPr>
                        <a:t>SÍ ✔</a:t>
                      </a:r>
                    </a:p>
                  </a:txBody>
                  <a:tcPr>
                    <a:solidFill>
                      <a:srgbClr val="FFFFFF"/>
                    </a:solidFill>
                  </a:tcPr>
                </a:tc>
                <a:tc>
                  <a:txBody>
                    <a:bodyPr/>
                    <a:lstStyle/>
                    <a:p>
                      <a:pPr algn="l"/>
                      <a:r>
                        <a:rPr sz="1500" b="0">
                          <a:solidFill>
                            <a:srgbClr val="222B36"/>
                          </a:solidFill>
                          <a:latin typeface="Segoe UI"/>
                        </a:rPr>
                        <a:t>aprende por distancias/gradiente</a:t>
                      </a:r>
                    </a:p>
                  </a:txBody>
                  <a:tcPr>
                    <a:solidFill>
                      <a:srgbClr val="FFFFFF"/>
                    </a:solidFill>
                  </a:tcPr>
                </a:tc>
                <a:extLst>
                  <a:ext uri="{0D108BD9-81ED-4DB2-BD59-A6C34878D82A}">
                    <a16:rowId xmlns:a16="http://schemas.microsoft.com/office/drawing/2014/main" val="10001"/>
                  </a:ext>
                </a:extLst>
              </a:tr>
              <a:tr h="621792">
                <a:tc>
                  <a:txBody>
                    <a:bodyPr/>
                    <a:lstStyle/>
                    <a:p>
                      <a:pPr algn="l"/>
                      <a:r>
                        <a:rPr sz="1500" b="0">
                          <a:solidFill>
                            <a:srgbClr val="222B36"/>
                          </a:solidFill>
                          <a:latin typeface="Segoe UI"/>
                        </a:rPr>
                        <a:t>KNN</a:t>
                      </a:r>
                    </a:p>
                  </a:txBody>
                  <a:tcPr>
                    <a:solidFill>
                      <a:srgbClr val="F2F4F7"/>
                    </a:solidFill>
                  </a:tcPr>
                </a:tc>
                <a:tc>
                  <a:txBody>
                    <a:bodyPr/>
                    <a:lstStyle/>
                    <a:p>
                      <a:pPr algn="l"/>
                      <a:r>
                        <a:rPr sz="1500" b="1">
                          <a:solidFill>
                            <a:srgbClr val="222B36"/>
                          </a:solidFill>
                          <a:latin typeface="Segoe UI"/>
                        </a:rPr>
                        <a:t>SÍ ✔</a:t>
                      </a:r>
                    </a:p>
                  </a:txBody>
                  <a:tcPr>
                    <a:solidFill>
                      <a:srgbClr val="F2F4F7"/>
                    </a:solidFill>
                  </a:tcPr>
                </a:tc>
                <a:tc>
                  <a:txBody>
                    <a:bodyPr/>
                    <a:lstStyle/>
                    <a:p>
                      <a:pPr algn="l"/>
                      <a:r>
                        <a:rPr sz="1500" b="0">
                          <a:solidFill>
                            <a:srgbClr val="222B36"/>
                          </a:solidFill>
                          <a:latin typeface="Segoe UI"/>
                        </a:rPr>
                        <a:t>se basa en distancias</a:t>
                      </a:r>
                    </a:p>
                  </a:txBody>
                  <a:tcPr>
                    <a:solidFill>
                      <a:srgbClr val="F2F4F7"/>
                    </a:solidFill>
                  </a:tcPr>
                </a:tc>
                <a:extLst>
                  <a:ext uri="{0D108BD9-81ED-4DB2-BD59-A6C34878D82A}">
                    <a16:rowId xmlns:a16="http://schemas.microsoft.com/office/drawing/2014/main" val="10002"/>
                  </a:ext>
                </a:extLst>
              </a:tr>
              <a:tr h="621792">
                <a:tc>
                  <a:txBody>
                    <a:bodyPr/>
                    <a:lstStyle/>
                    <a:p>
                      <a:pPr algn="l"/>
                      <a:r>
                        <a:rPr sz="1500" b="0">
                          <a:solidFill>
                            <a:srgbClr val="222B36"/>
                          </a:solidFill>
                          <a:latin typeface="Segoe UI"/>
                        </a:rPr>
                        <a:t>Decision Tree</a:t>
                      </a:r>
                    </a:p>
                  </a:txBody>
                  <a:tcPr>
                    <a:solidFill>
                      <a:srgbClr val="FFFFFF"/>
                    </a:solidFill>
                  </a:tcPr>
                </a:tc>
                <a:tc>
                  <a:txBody>
                    <a:bodyPr/>
                    <a:lstStyle/>
                    <a:p>
                      <a:pPr algn="l"/>
                      <a:r>
                        <a:rPr sz="1500" b="1">
                          <a:solidFill>
                            <a:srgbClr val="222B36"/>
                          </a:solidFill>
                          <a:latin typeface="Segoe UI"/>
                        </a:rPr>
                        <a:t>NO ✘</a:t>
                      </a:r>
                    </a:p>
                  </a:txBody>
                  <a:tcPr>
                    <a:solidFill>
                      <a:srgbClr val="FFFFFF"/>
                    </a:solidFill>
                  </a:tcPr>
                </a:tc>
                <a:tc>
                  <a:txBody>
                    <a:bodyPr/>
                    <a:lstStyle/>
                    <a:p>
                      <a:pPr algn="l"/>
                      <a:r>
                        <a:rPr sz="1500" b="0">
                          <a:solidFill>
                            <a:srgbClr val="222B36"/>
                          </a:solidFill>
                          <a:latin typeface="Segoe UI"/>
                        </a:rPr>
                        <a:t>parte por umbrales</a:t>
                      </a:r>
                    </a:p>
                  </a:txBody>
                  <a:tcPr>
                    <a:solidFill>
                      <a:srgbClr val="FFFFFF"/>
                    </a:solidFill>
                  </a:tcPr>
                </a:tc>
                <a:extLst>
                  <a:ext uri="{0D108BD9-81ED-4DB2-BD59-A6C34878D82A}">
                    <a16:rowId xmlns:a16="http://schemas.microsoft.com/office/drawing/2014/main" val="10003"/>
                  </a:ext>
                </a:extLst>
              </a:tr>
              <a:tr h="621792">
                <a:tc>
                  <a:txBody>
                    <a:bodyPr/>
                    <a:lstStyle/>
                    <a:p>
                      <a:pPr algn="l"/>
                      <a:r>
                        <a:rPr sz="1500" b="0">
                          <a:solidFill>
                            <a:srgbClr val="222B36"/>
                          </a:solidFill>
                          <a:latin typeface="Segoe UI"/>
                        </a:rPr>
                        <a:t>Random Forest</a:t>
                      </a:r>
                    </a:p>
                  </a:txBody>
                  <a:tcPr>
                    <a:solidFill>
                      <a:srgbClr val="F2F4F7"/>
                    </a:solidFill>
                  </a:tcPr>
                </a:tc>
                <a:tc>
                  <a:txBody>
                    <a:bodyPr/>
                    <a:lstStyle/>
                    <a:p>
                      <a:pPr algn="l"/>
                      <a:r>
                        <a:rPr sz="1500" b="1">
                          <a:solidFill>
                            <a:srgbClr val="222B36"/>
                          </a:solidFill>
                          <a:latin typeface="Segoe UI"/>
                        </a:rPr>
                        <a:t>NO ✘</a:t>
                      </a:r>
                    </a:p>
                  </a:txBody>
                  <a:tcPr>
                    <a:solidFill>
                      <a:srgbClr val="F2F4F7"/>
                    </a:solidFill>
                  </a:tcPr>
                </a:tc>
                <a:tc>
                  <a:txBody>
                    <a:bodyPr/>
                    <a:lstStyle/>
                    <a:p>
                      <a:pPr algn="l"/>
                      <a:r>
                        <a:rPr sz="1500" b="0">
                          <a:solidFill>
                            <a:srgbClr val="222B36"/>
                          </a:solidFill>
                          <a:latin typeface="Segoe UI"/>
                        </a:rPr>
                        <a:t>conjunto de árboles, por umbrales</a:t>
                      </a:r>
                    </a:p>
                  </a:txBody>
                  <a:tcPr>
                    <a:solidFill>
                      <a:srgbClr val="F2F4F7"/>
                    </a:solidFill>
                  </a:tcPr>
                </a:tc>
                <a:extLst>
                  <a:ext uri="{0D108BD9-81ED-4DB2-BD59-A6C34878D82A}">
                    <a16:rowId xmlns:a16="http://schemas.microsoft.com/office/drawing/2014/main" val="10004"/>
                  </a:ext>
                </a:extLst>
              </a:tr>
            </a:tbl>
          </a:graphicData>
        </a:graphic>
      </p:graphicFrame>
      <p:sp>
        <p:nvSpPr>
          <p:cNvPr id="7" name="Rounded Rectangle 6"/>
          <p:cNvSpPr/>
          <p:nvPr/>
        </p:nvSpPr>
        <p:spPr>
          <a:xfrm>
            <a:off x="640080" y="5166360"/>
            <a:ext cx="10881360" cy="77724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wrap="square" tIns="25400" bIns="25400" rtlCol="0" anchor="ctr"/>
          <a:lstStyle/>
          <a:p>
            <a:pPr algn="ctr"/>
            <a:r>
              <a:rPr sz="1600" b="1">
                <a:solidFill>
                  <a:srgbClr val="CD8A00"/>
                </a:solidFill>
                <a:latin typeface="Segoe UI"/>
              </a:rPr>
              <a:t>Preprocesamiento CRÍTICO para la red  ·  casi indiferente para el ensamblado</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CD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10896"/>
            <a:ext cx="10058400" cy="914400"/>
          </a:xfrm>
          <a:prstGeom prst="rect">
            <a:avLst/>
          </a:prstGeom>
          <a:noFill/>
        </p:spPr>
        <p:txBody>
          <a:bodyPr wrap="square" anchor="t">
            <a:spAutoFit/>
          </a:bodyPr>
          <a:lstStyle/>
          <a:p>
            <a:pPr algn="l">
              <a:spcAft>
                <a:spcPts val="400"/>
              </a:spcAft>
            </a:pPr>
            <a:r>
              <a:rPr sz="2800" b="1" i="0">
                <a:solidFill>
                  <a:srgbClr val="CD8A00"/>
                </a:solidFill>
                <a:latin typeface="Segoe UI"/>
              </a:rPr>
              <a:t>Resultados del MLP</a:t>
            </a:r>
          </a:p>
        </p:txBody>
      </p:sp>
      <p:sp>
        <p:nvSpPr>
          <p:cNvPr id="5" name="TextBox 4"/>
          <p:cNvSpPr txBox="1"/>
          <p:nvPr/>
        </p:nvSpPr>
        <p:spPr>
          <a:xfrm>
            <a:off x="1423554" y="6446520"/>
            <a:ext cx="10280765" cy="246221"/>
          </a:xfrm>
          <a:prstGeom prst="rect">
            <a:avLst/>
          </a:prstGeom>
          <a:noFill/>
        </p:spPr>
        <p:txBody>
          <a:bodyPr wrap="square" anchor="t">
            <a:spAutoFit/>
          </a:bodyPr>
          <a:lstStyle/>
          <a:p>
            <a:pPr algn="r"/>
            <a:r>
              <a:rPr sz="1000">
                <a:solidFill>
                  <a:srgbClr val="6B7480"/>
                </a:solidFill>
                <a:latin typeface="Segoe UI"/>
              </a:rPr>
              <a:t>Diapositiva 14 / 20</a:t>
            </a:r>
          </a:p>
        </p:txBody>
      </p:sp>
      <p:pic>
        <p:nvPicPr>
          <p:cNvPr id="6" name="Picture 5" descr="ia_03_cell27.png"/>
          <p:cNvPicPr>
            <a:picLocks noChangeAspect="1"/>
          </p:cNvPicPr>
          <p:nvPr/>
        </p:nvPicPr>
        <p:blipFill>
          <a:blip r:embed="rId3"/>
          <a:stretch>
            <a:fillRect/>
          </a:stretch>
        </p:blipFill>
        <p:spPr>
          <a:xfrm>
            <a:off x="502920" y="1571039"/>
            <a:ext cx="4846320" cy="3807361"/>
          </a:xfrm>
          <a:prstGeom prst="rect">
            <a:avLst/>
          </a:prstGeom>
          <a:ln w="9525">
            <a:solidFill>
              <a:srgbClr val="DDDDDD"/>
            </a:solidFill>
          </a:ln>
        </p:spPr>
      </p:pic>
      <p:pic>
        <p:nvPicPr>
          <p:cNvPr id="7" name="Picture 6" descr="ia_04_cell29.png"/>
          <p:cNvPicPr>
            <a:picLocks noChangeAspect="1"/>
          </p:cNvPicPr>
          <p:nvPr/>
        </p:nvPicPr>
        <p:blipFill>
          <a:blip r:embed="rId4"/>
          <a:stretch>
            <a:fillRect/>
          </a:stretch>
        </p:blipFill>
        <p:spPr>
          <a:xfrm>
            <a:off x="5440680" y="1972326"/>
            <a:ext cx="4023360" cy="3004787"/>
          </a:xfrm>
          <a:prstGeom prst="rect">
            <a:avLst/>
          </a:prstGeom>
          <a:ln w="9525">
            <a:solidFill>
              <a:srgbClr val="DDDDDD"/>
            </a:solidFill>
          </a:ln>
        </p:spPr>
      </p:pic>
      <p:sp>
        <p:nvSpPr>
          <p:cNvPr id="8" name="TextBox 7"/>
          <p:cNvSpPr txBox="1"/>
          <p:nvPr/>
        </p:nvSpPr>
        <p:spPr>
          <a:xfrm>
            <a:off x="9601200" y="1737360"/>
            <a:ext cx="2286000" cy="4206240"/>
          </a:xfrm>
          <a:prstGeom prst="rect">
            <a:avLst/>
          </a:prstGeom>
          <a:noFill/>
        </p:spPr>
        <p:txBody>
          <a:bodyPr wrap="square" anchor="t">
            <a:spAutoFit/>
          </a:bodyPr>
          <a:lstStyle/>
          <a:p>
            <a:pPr algn="l">
              <a:spcAft>
                <a:spcPts val="800"/>
              </a:spcAft>
            </a:pPr>
            <a:r>
              <a:rPr sz="1400" b="1" i="0">
                <a:solidFill>
                  <a:srgbClr val="222B36"/>
                </a:solidFill>
                <a:latin typeface="Segoe UI"/>
              </a:rPr>
              <a:t>•  Acc 96%</a:t>
            </a:r>
          </a:p>
          <a:p>
            <a:pPr algn="l">
              <a:spcAft>
                <a:spcPts val="800"/>
              </a:spcAft>
            </a:pPr>
            <a:r>
              <a:rPr sz="1400" b="1" i="0">
                <a:solidFill>
                  <a:srgbClr val="222B36"/>
                </a:solidFill>
                <a:latin typeface="Segoe UI"/>
              </a:rPr>
              <a:t>•  F1 0.96</a:t>
            </a:r>
          </a:p>
          <a:p>
            <a:pPr algn="l">
              <a:spcAft>
                <a:spcPts val="800"/>
              </a:spcAft>
            </a:pPr>
            <a:r>
              <a:rPr sz="1400" b="1" i="0">
                <a:solidFill>
                  <a:srgbClr val="222B36"/>
                </a:solidFill>
                <a:latin typeface="Segoe UI"/>
              </a:rPr>
              <a:t>•  AUC 0.991</a:t>
            </a:r>
          </a:p>
          <a:p>
            <a:pPr algn="l">
              <a:spcAft>
                <a:spcPts val="800"/>
              </a:spcAft>
            </a:pPr>
            <a:r>
              <a:rPr sz="1400" b="0" i="0">
                <a:solidFill>
                  <a:srgbClr val="222B36"/>
                </a:solidFill>
                <a:latin typeface="Segoe UI"/>
              </a:rPr>
              <a:t>•  Umbral 0.3 (no 0.5)</a:t>
            </a:r>
          </a:p>
          <a:p>
            <a:pPr algn="l">
              <a:spcAft>
                <a:spcPts val="800"/>
              </a:spcAft>
            </a:pPr>
            <a:r>
              <a:rPr sz="1400" b="1" i="0">
                <a:solidFill>
                  <a:srgbClr val="222B36"/>
                </a:solidFill>
                <a:latin typeface="Segoe UI"/>
              </a:rPr>
              <a:t>•  Recall 98% de fallas detectadas</a:t>
            </a:r>
          </a:p>
        </p:txBody>
      </p:sp>
      <p:sp>
        <p:nvSpPr>
          <p:cNvPr id="9" name="Rounded Rectangle 8"/>
          <p:cNvSpPr/>
          <p:nvPr/>
        </p:nvSpPr>
        <p:spPr>
          <a:xfrm>
            <a:off x="640080" y="5669280"/>
            <a:ext cx="10881360" cy="59436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wrap="square" tIns="25400" bIns="25400" rtlCol="0" anchor="ctr"/>
          <a:lstStyle/>
          <a:p>
            <a:pPr algn="ctr"/>
            <a:r>
              <a:rPr sz="1400" b="1">
                <a:solidFill>
                  <a:srgbClr val="CD8A00"/>
                </a:solidFill>
                <a:latin typeface="Segoe UI"/>
              </a:rPr>
              <a:t>En mantenimiento, dejar pasar una falla real es mucho más caro que una falsa alarma</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CD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10896"/>
            <a:ext cx="10058400" cy="914400"/>
          </a:xfrm>
          <a:prstGeom prst="rect">
            <a:avLst/>
          </a:prstGeom>
          <a:noFill/>
        </p:spPr>
        <p:txBody>
          <a:bodyPr wrap="square" anchor="t">
            <a:spAutoFit/>
          </a:bodyPr>
          <a:lstStyle/>
          <a:p>
            <a:pPr algn="l">
              <a:spcAft>
                <a:spcPts val="400"/>
              </a:spcAft>
            </a:pPr>
            <a:r>
              <a:rPr sz="2800" b="1" i="0">
                <a:solidFill>
                  <a:srgbClr val="CD8A00"/>
                </a:solidFill>
                <a:latin typeface="Segoe UI"/>
              </a:rPr>
              <a:t>Tabla comparativa de métricas</a:t>
            </a:r>
          </a:p>
        </p:txBody>
      </p:sp>
      <p:sp>
        <p:nvSpPr>
          <p:cNvPr id="5" name="TextBox 4"/>
          <p:cNvSpPr txBox="1"/>
          <p:nvPr/>
        </p:nvSpPr>
        <p:spPr>
          <a:xfrm>
            <a:off x="1423554" y="6446520"/>
            <a:ext cx="10280765" cy="246221"/>
          </a:xfrm>
          <a:prstGeom prst="rect">
            <a:avLst/>
          </a:prstGeom>
          <a:noFill/>
        </p:spPr>
        <p:txBody>
          <a:bodyPr wrap="square" anchor="t">
            <a:spAutoFit/>
          </a:bodyPr>
          <a:lstStyle/>
          <a:p>
            <a:pPr algn="r"/>
            <a:r>
              <a:rPr sz="1000">
                <a:solidFill>
                  <a:srgbClr val="6B7480"/>
                </a:solidFill>
                <a:latin typeface="Segoe UI"/>
              </a:rPr>
              <a:t>Diapositiva 15 / 20</a:t>
            </a:r>
          </a:p>
        </p:txBody>
      </p:sp>
      <p:pic>
        <p:nvPicPr>
          <p:cNvPr id="6" name="Picture 5" descr="cdd_22_cell85.png"/>
          <p:cNvPicPr>
            <a:picLocks noChangeAspect="1"/>
          </p:cNvPicPr>
          <p:nvPr/>
        </p:nvPicPr>
        <p:blipFill>
          <a:blip r:embed="rId3"/>
          <a:stretch>
            <a:fillRect/>
          </a:stretch>
        </p:blipFill>
        <p:spPr>
          <a:xfrm>
            <a:off x="502920" y="2036149"/>
            <a:ext cx="6949440" cy="3425780"/>
          </a:xfrm>
          <a:prstGeom prst="rect">
            <a:avLst/>
          </a:prstGeom>
          <a:ln w="9525">
            <a:solidFill>
              <a:srgbClr val="DDDDDD"/>
            </a:solidFill>
          </a:ln>
        </p:spPr>
      </p:pic>
      <p:sp>
        <p:nvSpPr>
          <p:cNvPr id="7" name="TextBox 6"/>
          <p:cNvSpPr txBox="1"/>
          <p:nvPr/>
        </p:nvSpPr>
        <p:spPr>
          <a:xfrm>
            <a:off x="7680960" y="1737360"/>
            <a:ext cx="4206240" cy="4389120"/>
          </a:xfrm>
          <a:prstGeom prst="rect">
            <a:avLst/>
          </a:prstGeom>
          <a:noFill/>
        </p:spPr>
        <p:txBody>
          <a:bodyPr wrap="square" anchor="t">
            <a:spAutoFit/>
          </a:bodyPr>
          <a:lstStyle/>
          <a:p>
            <a:pPr algn="l">
              <a:spcAft>
                <a:spcPts val="800"/>
              </a:spcAft>
            </a:pPr>
            <a:r>
              <a:rPr sz="1500" b="0" i="0">
                <a:solidFill>
                  <a:srgbClr val="222B36"/>
                </a:solidFill>
                <a:latin typeface="Segoe UI"/>
              </a:rPr>
              <a:t>•  Naive Bayes queda atrás: 0.84</a:t>
            </a:r>
          </a:p>
          <a:p>
            <a:pPr algn="l">
              <a:spcAft>
                <a:spcPts val="800"/>
              </a:spcAft>
            </a:pPr>
            <a:r>
              <a:rPr sz="1500" b="0" i="0">
                <a:solidFill>
                  <a:srgbClr val="222B36"/>
                </a:solidFill>
                <a:latin typeface="Segoe UI"/>
              </a:rPr>
              <a:t>•  KNN y Árbol (base): 0.95–0.96</a:t>
            </a:r>
          </a:p>
          <a:p>
            <a:pPr algn="l">
              <a:spcAft>
                <a:spcPts val="800"/>
              </a:spcAft>
            </a:pPr>
            <a:r>
              <a:rPr sz="1500" b="1" i="0">
                <a:solidFill>
                  <a:srgbClr val="222B36"/>
                </a:solidFill>
                <a:latin typeface="Segoe UI"/>
              </a:rPr>
              <a:t>•  MLP: 0.96 · AUC 0.991</a:t>
            </a:r>
          </a:p>
          <a:p>
            <a:pPr algn="l">
              <a:spcAft>
                <a:spcPts val="800"/>
              </a:spcAft>
            </a:pPr>
            <a:r>
              <a:rPr sz="1500" b="1" i="0">
                <a:solidFill>
                  <a:srgbClr val="222B36"/>
                </a:solidFill>
                <a:latin typeface="Segoe UI"/>
              </a:rPr>
              <a:t>•  Random Forest lidera: 0.972 · AUC 0.997</a:t>
            </a:r>
          </a:p>
          <a:p>
            <a:pPr algn="l">
              <a:spcAft>
                <a:spcPts val="800"/>
              </a:spcAft>
            </a:pPr>
            <a:r>
              <a:rPr sz="1500" b="0" i="0">
                <a:solidFill>
                  <a:srgbClr val="222B36"/>
                </a:solidFill>
                <a:latin typeface="Segoe UI"/>
              </a:rPr>
              <a:t>•  Clave: la red, pese a su complejidad, NO supera al ensamblado</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10896"/>
            <a:ext cx="10058400" cy="914400"/>
          </a:xfrm>
          <a:prstGeom prst="rect">
            <a:avLst/>
          </a:prstGeom>
          <a:noFill/>
        </p:spPr>
        <p:txBody>
          <a:bodyPr wrap="square" anchor="t">
            <a:spAutoFit/>
          </a:bodyPr>
          <a:lstStyle/>
          <a:p>
            <a:pPr algn="l">
              <a:spcAft>
                <a:spcPts val="400"/>
              </a:spcAft>
            </a:pPr>
            <a:r>
              <a:rPr sz="2800" b="1" i="0">
                <a:solidFill>
                  <a:srgbClr val="C0392B"/>
                </a:solidFill>
                <a:latin typeface="Segoe UI"/>
              </a:rPr>
              <a:t>MLP frente al ensamblado</a:t>
            </a:r>
          </a:p>
        </p:txBody>
      </p:sp>
      <p:sp>
        <p:nvSpPr>
          <p:cNvPr id="5" name="TextBox 4"/>
          <p:cNvSpPr txBox="1"/>
          <p:nvPr/>
        </p:nvSpPr>
        <p:spPr>
          <a:xfrm>
            <a:off x="1496290" y="6446520"/>
            <a:ext cx="10208029" cy="246221"/>
          </a:xfrm>
          <a:prstGeom prst="rect">
            <a:avLst/>
          </a:prstGeom>
          <a:noFill/>
        </p:spPr>
        <p:txBody>
          <a:bodyPr wrap="square" anchor="t">
            <a:spAutoFit/>
          </a:bodyPr>
          <a:lstStyle/>
          <a:p>
            <a:pPr algn="r"/>
            <a:r>
              <a:rPr sz="1000">
                <a:solidFill>
                  <a:srgbClr val="6B7480"/>
                </a:solidFill>
                <a:latin typeface="Segoe UI"/>
              </a:rPr>
              <a:t>Diapositiva 16 / 20</a:t>
            </a:r>
          </a:p>
        </p:txBody>
      </p:sp>
      <p:pic>
        <p:nvPicPr>
          <p:cNvPr id="6" name="Picture 5" descr="gen_auc.png"/>
          <p:cNvPicPr>
            <a:picLocks noChangeAspect="1"/>
          </p:cNvPicPr>
          <p:nvPr/>
        </p:nvPicPr>
        <p:blipFill>
          <a:blip r:embed="rId3"/>
          <a:stretch>
            <a:fillRect/>
          </a:stretch>
        </p:blipFill>
        <p:spPr>
          <a:xfrm>
            <a:off x="502920" y="2040843"/>
            <a:ext cx="7680960" cy="3416392"/>
          </a:xfrm>
          <a:prstGeom prst="rect">
            <a:avLst/>
          </a:prstGeom>
          <a:ln w="9525">
            <a:solidFill>
              <a:srgbClr val="DDDDDD"/>
            </a:solidFill>
          </a:ln>
        </p:spPr>
      </p:pic>
      <p:sp>
        <p:nvSpPr>
          <p:cNvPr id="7" name="TextBox 6"/>
          <p:cNvSpPr txBox="1"/>
          <p:nvPr/>
        </p:nvSpPr>
        <p:spPr>
          <a:xfrm>
            <a:off x="8321040" y="1737360"/>
            <a:ext cx="3566160" cy="4389120"/>
          </a:xfrm>
          <a:prstGeom prst="rect">
            <a:avLst/>
          </a:prstGeom>
          <a:noFill/>
        </p:spPr>
        <p:txBody>
          <a:bodyPr wrap="square" anchor="t">
            <a:spAutoFit/>
          </a:bodyPr>
          <a:lstStyle/>
          <a:p>
            <a:pPr algn="l">
              <a:spcAft>
                <a:spcPts val="800"/>
              </a:spcAft>
            </a:pPr>
            <a:r>
              <a:rPr sz="1500" b="1" i="0">
                <a:solidFill>
                  <a:srgbClr val="222B36"/>
                </a:solidFill>
                <a:latin typeface="Segoe UI"/>
              </a:rPr>
              <a:t>•  Random Forest gana en todas las métricas</a:t>
            </a:r>
          </a:p>
          <a:p>
            <a:pPr algn="l">
              <a:spcAft>
                <a:spcPts val="800"/>
              </a:spcAft>
            </a:pPr>
            <a:r>
              <a:rPr sz="1500" b="0" i="0">
                <a:solidFill>
                  <a:srgbClr val="222B36"/>
                </a:solidFill>
                <a:latin typeface="Segoe UI"/>
              </a:rPr>
              <a:t>•  accuracy · F1 · AUC</a:t>
            </a:r>
          </a:p>
          <a:p>
            <a:pPr algn="l">
              <a:spcAft>
                <a:spcPts val="800"/>
              </a:spcAft>
            </a:pPr>
            <a:r>
              <a:rPr sz="1500" b="0" i="0">
                <a:solidFill>
                  <a:srgbClr val="222B36"/>
                </a:solidFill>
                <a:latin typeface="Segoe UI"/>
              </a:rPr>
              <a:t>•  aunque por margen estrecho</a:t>
            </a:r>
          </a:p>
          <a:p>
            <a:pPr algn="l">
              <a:spcAft>
                <a:spcPts val="800"/>
              </a:spcAft>
            </a:pPr>
            <a:r>
              <a:rPr sz="1500" b="1" i="0">
                <a:solidFill>
                  <a:srgbClr val="222B36"/>
                </a:solidFill>
                <a:latin typeface="Segoe UI"/>
              </a:rPr>
              <a:t>•  Resultado revelador: el modelo más fácil de explicar iguala o supera a la red neuronal</a:t>
            </a: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10896"/>
            <a:ext cx="10058400" cy="914400"/>
          </a:xfrm>
          <a:prstGeom prst="rect">
            <a:avLst/>
          </a:prstGeom>
          <a:noFill/>
        </p:spPr>
        <p:txBody>
          <a:bodyPr wrap="square" anchor="t">
            <a:spAutoFit/>
          </a:bodyPr>
          <a:lstStyle/>
          <a:p>
            <a:pPr algn="l">
              <a:spcAft>
                <a:spcPts val="400"/>
              </a:spcAft>
            </a:pPr>
            <a:r>
              <a:rPr sz="2800" b="1" i="0">
                <a:solidFill>
                  <a:srgbClr val="C0392B"/>
                </a:solidFill>
                <a:latin typeface="Segoe UI"/>
              </a:rPr>
              <a:t>¿Se justifica la complejidad del MLP?</a:t>
            </a:r>
          </a:p>
        </p:txBody>
      </p:sp>
      <p:sp>
        <p:nvSpPr>
          <p:cNvPr id="5" name="TextBox 4"/>
          <p:cNvSpPr txBox="1"/>
          <p:nvPr/>
        </p:nvSpPr>
        <p:spPr>
          <a:xfrm>
            <a:off x="1465118" y="6446520"/>
            <a:ext cx="10239202" cy="246221"/>
          </a:xfrm>
          <a:prstGeom prst="rect">
            <a:avLst/>
          </a:prstGeom>
          <a:noFill/>
        </p:spPr>
        <p:txBody>
          <a:bodyPr wrap="square" anchor="t">
            <a:spAutoFit/>
          </a:bodyPr>
          <a:lstStyle/>
          <a:p>
            <a:pPr algn="r"/>
            <a:r>
              <a:rPr sz="1000">
                <a:solidFill>
                  <a:srgbClr val="6B7480"/>
                </a:solidFill>
                <a:latin typeface="Segoe UI"/>
              </a:rPr>
              <a:t>Diapositiva 17 / 20</a:t>
            </a:r>
          </a:p>
        </p:txBody>
      </p:sp>
      <p:sp>
        <p:nvSpPr>
          <p:cNvPr id="6" name="Rounded Rectangle 5"/>
          <p:cNvSpPr/>
          <p:nvPr/>
        </p:nvSpPr>
        <p:spPr>
          <a:xfrm>
            <a:off x="731520" y="1828800"/>
            <a:ext cx="5212080" cy="640080"/>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wrap="square" tIns="25400" bIns="25400" rtlCol="0" anchor="ctr"/>
          <a:lstStyle/>
          <a:p>
            <a:pPr algn="ctr"/>
            <a:r>
              <a:rPr sz="1700" b="1">
                <a:solidFill>
                  <a:srgbClr val="FFFFFF"/>
                </a:solidFill>
                <a:latin typeface="Segoe UI"/>
              </a:rPr>
              <a:t>COSTO del MLP</a:t>
            </a:r>
          </a:p>
        </p:txBody>
      </p:sp>
      <p:sp>
        <p:nvSpPr>
          <p:cNvPr id="7" name="TextBox 6"/>
          <p:cNvSpPr txBox="1"/>
          <p:nvPr/>
        </p:nvSpPr>
        <p:spPr>
          <a:xfrm>
            <a:off x="868680" y="2606040"/>
            <a:ext cx="5029200" cy="2926080"/>
          </a:xfrm>
          <a:prstGeom prst="rect">
            <a:avLst/>
          </a:prstGeom>
          <a:noFill/>
        </p:spPr>
        <p:txBody>
          <a:bodyPr wrap="square" anchor="t">
            <a:spAutoFit/>
          </a:bodyPr>
          <a:lstStyle/>
          <a:p>
            <a:pPr algn="l">
              <a:spcAft>
                <a:spcPts val="800"/>
              </a:spcAft>
            </a:pPr>
            <a:r>
              <a:rPr sz="1600" b="0" i="0">
                <a:solidFill>
                  <a:srgbClr val="222B36"/>
                </a:solidFill>
                <a:latin typeface="Segoe UI"/>
              </a:rPr>
              <a:t>•  Estandarización obligatoria</a:t>
            </a:r>
          </a:p>
          <a:p>
            <a:pPr algn="l">
              <a:spcAft>
                <a:spcPts val="800"/>
              </a:spcAft>
            </a:pPr>
            <a:r>
              <a:rPr sz="1600" b="0" i="0">
                <a:solidFill>
                  <a:srgbClr val="222B36"/>
                </a:solidFill>
                <a:latin typeface="Segoe UI"/>
              </a:rPr>
              <a:t>•  Ajuste de muchos hiperparámetros</a:t>
            </a:r>
          </a:p>
          <a:p>
            <a:pPr algn="l">
              <a:spcAft>
                <a:spcPts val="800"/>
              </a:spcAft>
            </a:pPr>
            <a:r>
              <a:rPr sz="1600" b="0" i="0">
                <a:solidFill>
                  <a:srgbClr val="222B36"/>
                </a:solidFill>
                <a:latin typeface="Segoe UI"/>
              </a:rPr>
              <a:t>•  Entrenamiento más delicado</a:t>
            </a:r>
          </a:p>
        </p:txBody>
      </p:sp>
      <p:sp>
        <p:nvSpPr>
          <p:cNvPr id="8" name="Rounded Rectangle 7"/>
          <p:cNvSpPr/>
          <p:nvPr/>
        </p:nvSpPr>
        <p:spPr>
          <a:xfrm>
            <a:off x="6309360" y="1828800"/>
            <a:ext cx="5212080" cy="640080"/>
          </a:xfrm>
          <a:prstGeom prst="roundRect">
            <a:avLst/>
          </a:prstGeom>
          <a:solidFill>
            <a:srgbClr val="219A52"/>
          </a:solidFill>
          <a:ln>
            <a:noFill/>
          </a:ln>
        </p:spPr>
        <p:style>
          <a:lnRef idx="1">
            <a:schemeClr val="accent1"/>
          </a:lnRef>
          <a:fillRef idx="3">
            <a:schemeClr val="accent1"/>
          </a:fillRef>
          <a:effectRef idx="2">
            <a:schemeClr val="accent1"/>
          </a:effectRef>
          <a:fontRef idx="minor">
            <a:schemeClr val="lt1"/>
          </a:fontRef>
        </p:style>
        <p:txBody>
          <a:bodyPr wrap="square" tIns="25400" bIns="25400" rtlCol="0" anchor="ctr"/>
          <a:lstStyle/>
          <a:p>
            <a:pPr algn="ctr"/>
            <a:r>
              <a:rPr sz="1700" b="1">
                <a:solidFill>
                  <a:srgbClr val="FFFFFF"/>
                </a:solidFill>
                <a:latin typeface="Segoe UI"/>
              </a:rPr>
              <a:t>GANANCIA frente al RF</a:t>
            </a:r>
          </a:p>
        </p:txBody>
      </p:sp>
      <p:sp>
        <p:nvSpPr>
          <p:cNvPr id="9" name="TextBox 8"/>
          <p:cNvSpPr txBox="1"/>
          <p:nvPr/>
        </p:nvSpPr>
        <p:spPr>
          <a:xfrm>
            <a:off x="6446520" y="2606040"/>
            <a:ext cx="5029200" cy="2926080"/>
          </a:xfrm>
          <a:prstGeom prst="rect">
            <a:avLst/>
          </a:prstGeom>
          <a:noFill/>
        </p:spPr>
        <p:txBody>
          <a:bodyPr wrap="square" anchor="t">
            <a:spAutoFit/>
          </a:bodyPr>
          <a:lstStyle/>
          <a:p>
            <a:pPr algn="l">
              <a:spcAft>
                <a:spcPts val="800"/>
              </a:spcAft>
            </a:pPr>
            <a:r>
              <a:rPr sz="1600" b="1" i="0">
                <a:solidFill>
                  <a:srgbClr val="222B36"/>
                </a:solidFill>
                <a:latin typeface="Segoe UI"/>
              </a:rPr>
              <a:t>•  ≈ Ninguna</a:t>
            </a:r>
          </a:p>
          <a:p>
            <a:pPr algn="l">
              <a:spcAft>
                <a:spcPts val="800"/>
              </a:spcAft>
            </a:pPr>
            <a:r>
              <a:rPr sz="1600" b="0" i="0">
                <a:solidFill>
                  <a:srgbClr val="222B36"/>
                </a:solidFill>
                <a:latin typeface="Segoe UI"/>
              </a:rPr>
              <a:t>•  No mejora al ensamblado</a:t>
            </a:r>
          </a:p>
        </p:txBody>
      </p:sp>
      <p:sp>
        <p:nvSpPr>
          <p:cNvPr id="10" name="Rounded Rectangle 9"/>
          <p:cNvSpPr/>
          <p:nvPr/>
        </p:nvSpPr>
        <p:spPr>
          <a:xfrm>
            <a:off x="731520" y="5349240"/>
            <a:ext cx="10789920" cy="77724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wrap="square" tIns="25400" bIns="25400" rtlCol="0" anchor="ctr"/>
          <a:lstStyle/>
          <a:p>
            <a:pPr algn="ctr"/>
            <a:r>
              <a:rPr sz="1600" b="1">
                <a:solidFill>
                  <a:srgbClr val="C0392B"/>
                </a:solidFill>
                <a:latin typeface="Segoe UI"/>
              </a:rPr>
              <a:t>La complejidad solo se paga cuando da una ventaja clara.  Aquí, para este problema:  NO se justifica</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10896"/>
            <a:ext cx="10058400" cy="914400"/>
          </a:xfrm>
          <a:prstGeom prst="rect">
            <a:avLst/>
          </a:prstGeom>
          <a:noFill/>
        </p:spPr>
        <p:txBody>
          <a:bodyPr wrap="square" anchor="t">
            <a:spAutoFit/>
          </a:bodyPr>
          <a:lstStyle/>
          <a:p>
            <a:pPr algn="l">
              <a:spcAft>
                <a:spcPts val="400"/>
              </a:spcAft>
            </a:pPr>
            <a:r>
              <a:rPr sz="2800" b="1" i="0">
                <a:solidFill>
                  <a:srgbClr val="C0392B"/>
                </a:solidFill>
                <a:latin typeface="Segoe UI"/>
              </a:rPr>
              <a:t>Precisión vs interpretabilidad</a:t>
            </a:r>
          </a:p>
        </p:txBody>
      </p:sp>
      <p:sp>
        <p:nvSpPr>
          <p:cNvPr id="5" name="TextBox 4"/>
          <p:cNvSpPr txBox="1"/>
          <p:nvPr/>
        </p:nvSpPr>
        <p:spPr>
          <a:xfrm>
            <a:off x="1132608" y="6446520"/>
            <a:ext cx="10571711" cy="246221"/>
          </a:xfrm>
          <a:prstGeom prst="rect">
            <a:avLst/>
          </a:prstGeom>
          <a:noFill/>
        </p:spPr>
        <p:txBody>
          <a:bodyPr wrap="square" anchor="t">
            <a:spAutoFit/>
          </a:bodyPr>
          <a:lstStyle/>
          <a:p>
            <a:pPr algn="r"/>
            <a:r>
              <a:rPr sz="1000">
                <a:solidFill>
                  <a:srgbClr val="6B7480"/>
                </a:solidFill>
                <a:latin typeface="Segoe UI"/>
              </a:rPr>
              <a:t>Diapositiva 18 / 20</a:t>
            </a:r>
          </a:p>
        </p:txBody>
      </p:sp>
      <p:pic>
        <p:nvPicPr>
          <p:cNvPr id="6" name="Picture 5" descr="cdd_20_cell81.png"/>
          <p:cNvPicPr>
            <a:picLocks noChangeAspect="1"/>
          </p:cNvPicPr>
          <p:nvPr/>
        </p:nvPicPr>
        <p:blipFill>
          <a:blip r:embed="rId3"/>
          <a:stretch>
            <a:fillRect/>
          </a:stretch>
        </p:blipFill>
        <p:spPr>
          <a:xfrm>
            <a:off x="502920" y="1748425"/>
            <a:ext cx="7406640" cy="3726908"/>
          </a:xfrm>
          <a:prstGeom prst="rect">
            <a:avLst/>
          </a:prstGeom>
          <a:ln w="9525">
            <a:solidFill>
              <a:srgbClr val="DDDDDD"/>
            </a:solidFill>
          </a:ln>
        </p:spPr>
      </p:pic>
      <p:sp>
        <p:nvSpPr>
          <p:cNvPr id="7" name="TextBox 6"/>
          <p:cNvSpPr txBox="1"/>
          <p:nvPr/>
        </p:nvSpPr>
        <p:spPr>
          <a:xfrm>
            <a:off x="8046720" y="1737360"/>
            <a:ext cx="3749039" cy="4206240"/>
          </a:xfrm>
          <a:prstGeom prst="rect">
            <a:avLst/>
          </a:prstGeom>
          <a:noFill/>
        </p:spPr>
        <p:txBody>
          <a:bodyPr wrap="square" anchor="t">
            <a:spAutoFit/>
          </a:bodyPr>
          <a:lstStyle/>
          <a:p>
            <a:pPr algn="l">
              <a:spcAft>
                <a:spcPts val="800"/>
              </a:spcAft>
            </a:pPr>
            <a:r>
              <a:rPr sz="1500" b="1" i="0">
                <a:solidFill>
                  <a:srgbClr val="222B36"/>
                </a:solidFill>
                <a:latin typeface="Segoe UI"/>
              </a:rPr>
              <a:t>•  MLP = caja negra</a:t>
            </a:r>
          </a:p>
          <a:p>
            <a:pPr algn="l">
              <a:spcAft>
                <a:spcPts val="800"/>
              </a:spcAft>
            </a:pPr>
            <a:r>
              <a:rPr sz="1500" b="0" i="0">
                <a:solidFill>
                  <a:srgbClr val="222B36"/>
                </a:solidFill>
                <a:latin typeface="Segoe UI"/>
              </a:rPr>
              <a:t>•  predice bien, pero no explica por qué</a:t>
            </a:r>
          </a:p>
          <a:p>
            <a:pPr algn="l">
              <a:spcAft>
                <a:spcPts val="800"/>
              </a:spcAft>
            </a:pPr>
            <a:r>
              <a:rPr sz="1500" b="1" i="0">
                <a:solidFill>
                  <a:srgbClr val="222B36"/>
                </a:solidFill>
                <a:latin typeface="Segoe UI"/>
              </a:rPr>
              <a:t>•  Árbol / Random Forest = reglas + importancia de cada variable</a:t>
            </a:r>
          </a:p>
          <a:p>
            <a:pPr algn="l">
              <a:spcAft>
                <a:spcPts val="800"/>
              </a:spcAft>
            </a:pPr>
            <a:r>
              <a:rPr sz="1500" b="0" i="0">
                <a:solidFill>
                  <a:srgbClr val="222B36"/>
                </a:solidFill>
                <a:latin typeface="Segoe UI"/>
              </a:rPr>
              <a:t>•  En planta, el técnico necesita saber QUÉ condición disparó la alarma, no solo un número</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310896"/>
            <a:ext cx="10058400" cy="914400"/>
          </a:xfrm>
          <a:prstGeom prst="rect">
            <a:avLst/>
          </a:prstGeom>
          <a:noFill/>
        </p:spPr>
        <p:txBody>
          <a:bodyPr wrap="square" anchor="t">
            <a:spAutoFit/>
          </a:bodyPr>
          <a:lstStyle/>
          <a:p>
            <a:pPr algn="l">
              <a:spcAft>
                <a:spcPts val="400"/>
              </a:spcAft>
            </a:pPr>
            <a:r>
              <a:rPr sz="2800" b="1" i="0">
                <a:solidFill>
                  <a:srgbClr val="C0392B"/>
                </a:solidFill>
                <a:latin typeface="Segoe UI"/>
              </a:rPr>
              <a:t>Modelo elegido para la planta</a:t>
            </a:r>
          </a:p>
        </p:txBody>
      </p:sp>
      <p:sp>
        <p:nvSpPr>
          <p:cNvPr id="5" name="TextBox 4"/>
          <p:cNvSpPr txBox="1"/>
          <p:nvPr/>
        </p:nvSpPr>
        <p:spPr>
          <a:xfrm>
            <a:off x="1645920" y="6446520"/>
            <a:ext cx="10058400" cy="246221"/>
          </a:xfrm>
          <a:prstGeom prst="rect">
            <a:avLst/>
          </a:prstGeom>
          <a:noFill/>
        </p:spPr>
        <p:txBody>
          <a:bodyPr wrap="square" anchor="t">
            <a:spAutoFit/>
          </a:bodyPr>
          <a:lstStyle/>
          <a:p>
            <a:pPr algn="r"/>
            <a:r>
              <a:rPr sz="1000">
                <a:solidFill>
                  <a:srgbClr val="6B7480"/>
                </a:solidFill>
                <a:latin typeface="Segoe UI"/>
              </a:rPr>
              <a:t>Diapositiva 19 / 20</a:t>
            </a:r>
          </a:p>
        </p:txBody>
      </p:sp>
      <p:sp>
        <p:nvSpPr>
          <p:cNvPr id="6" name="Rounded Rectangle 5"/>
          <p:cNvSpPr/>
          <p:nvPr/>
        </p:nvSpPr>
        <p:spPr>
          <a:xfrm>
            <a:off x="640080" y="1554480"/>
            <a:ext cx="6858000" cy="914400"/>
          </a:xfrm>
          <a:prstGeom prst="round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wrap="square" tIns="25400" bIns="25400" rtlCol="0" anchor="ctr"/>
          <a:lstStyle/>
          <a:p>
            <a:pPr algn="ctr"/>
            <a:r>
              <a:rPr sz="2200" b="1" dirty="0">
                <a:solidFill>
                  <a:srgbClr val="FFFFFF"/>
                </a:solidFill>
                <a:latin typeface="Segoe UI"/>
              </a:rPr>
              <a:t>Modelo </a:t>
            </a:r>
            <a:r>
              <a:rPr sz="2200" b="1" dirty="0" err="1">
                <a:solidFill>
                  <a:srgbClr val="FFFFFF"/>
                </a:solidFill>
                <a:latin typeface="Segoe UI"/>
              </a:rPr>
              <a:t>recomendado</a:t>
            </a:r>
            <a:r>
              <a:rPr sz="2200" b="1" dirty="0">
                <a:solidFill>
                  <a:srgbClr val="FFFFFF"/>
                </a:solidFill>
                <a:latin typeface="Segoe UI"/>
              </a:rPr>
              <a:t>:  RANDOM FOREST</a:t>
            </a:r>
          </a:p>
        </p:txBody>
      </p:sp>
      <p:pic>
        <p:nvPicPr>
          <p:cNvPr id="7" name="Picture 6" descr="cdd_24_cell88.png"/>
          <p:cNvPicPr>
            <a:picLocks noChangeAspect="1"/>
          </p:cNvPicPr>
          <p:nvPr/>
        </p:nvPicPr>
        <p:blipFill>
          <a:blip r:embed="rId3"/>
          <a:stretch>
            <a:fillRect/>
          </a:stretch>
        </p:blipFill>
        <p:spPr>
          <a:xfrm>
            <a:off x="1171738" y="2697480"/>
            <a:ext cx="5703243" cy="3383280"/>
          </a:xfrm>
          <a:prstGeom prst="rect">
            <a:avLst/>
          </a:prstGeom>
          <a:ln w="9525">
            <a:solidFill>
              <a:srgbClr val="DDDDDD"/>
            </a:solidFill>
          </a:ln>
        </p:spPr>
      </p:pic>
      <p:sp>
        <p:nvSpPr>
          <p:cNvPr id="8" name="TextBox 7"/>
          <p:cNvSpPr txBox="1"/>
          <p:nvPr/>
        </p:nvSpPr>
        <p:spPr>
          <a:xfrm>
            <a:off x="7772400" y="1737360"/>
            <a:ext cx="4023360" cy="4389120"/>
          </a:xfrm>
          <a:prstGeom prst="rect">
            <a:avLst/>
          </a:prstGeom>
          <a:noFill/>
        </p:spPr>
        <p:txBody>
          <a:bodyPr wrap="square" anchor="t">
            <a:spAutoFit/>
          </a:bodyPr>
          <a:lstStyle/>
          <a:p>
            <a:pPr algn="l">
              <a:spcAft>
                <a:spcPts val="800"/>
              </a:spcAft>
            </a:pPr>
            <a:r>
              <a:rPr sz="1500" b="1" i="0">
                <a:solidFill>
                  <a:srgbClr val="222B36"/>
                </a:solidFill>
                <a:latin typeface="Segoe UI"/>
              </a:rPr>
              <a:t>•  Mejor performance y robustez</a:t>
            </a:r>
          </a:p>
          <a:p>
            <a:pPr algn="l">
              <a:spcAft>
                <a:spcPts val="800"/>
              </a:spcAft>
            </a:pPr>
            <a:r>
              <a:rPr sz="1500" b="0" i="0">
                <a:solidFill>
                  <a:srgbClr val="222B36"/>
                </a:solidFill>
                <a:latin typeface="Segoe UI"/>
              </a:rPr>
              <a:t>•  Acc 0.972 · AUC 0.997</a:t>
            </a:r>
          </a:p>
          <a:p>
            <a:pPr algn="l">
              <a:spcAft>
                <a:spcPts val="800"/>
              </a:spcAft>
            </a:pPr>
            <a:r>
              <a:rPr sz="1500" b="1" i="0">
                <a:solidFill>
                  <a:srgbClr val="222B36"/>
                </a:solidFill>
                <a:latin typeface="Segoe UI"/>
              </a:rPr>
              <a:t>•  Importancia de variables que respalda cada predicción</a:t>
            </a:r>
          </a:p>
          <a:p>
            <a:pPr algn="l">
              <a:spcAft>
                <a:spcPts val="800"/>
              </a:spcAft>
            </a:pPr>
            <a:r>
              <a:rPr sz="1500" b="0" i="0">
                <a:solidFill>
                  <a:srgbClr val="222B36"/>
                </a:solidFill>
                <a:latin typeface="Segoe UI"/>
              </a:rPr>
              <a:t>•  Reentrenar cuesta solo 3,7 s → irrelevante frente a esa ventaja</a:t>
            </a:r>
          </a:p>
          <a:p>
            <a:pPr algn="l">
              <a:spcAft>
                <a:spcPts val="800"/>
              </a:spcAft>
            </a:pPr>
            <a:r>
              <a:rPr sz="1500" b="0" i="0">
                <a:solidFill>
                  <a:srgbClr val="222B36"/>
                </a:solidFill>
                <a:latin typeface="Segoe UI"/>
              </a:rPr>
              <a:t>•  La red queda como alternativa válida, no óptima aquí</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18872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28600"/>
            <a:ext cx="10698480" cy="777240"/>
          </a:xfrm>
          <a:prstGeom prst="rect">
            <a:avLst/>
          </a:prstGeom>
          <a:noFill/>
        </p:spPr>
        <p:txBody>
          <a:bodyPr wrap="square" anchor="ctr">
            <a:spAutoFit/>
          </a:bodyPr>
          <a:lstStyle/>
          <a:p>
            <a:pPr algn="l">
              <a:spcAft>
                <a:spcPts val="400"/>
              </a:spcAft>
            </a:pPr>
            <a:r>
              <a:rPr sz="3400" b="1" i="0">
                <a:solidFill>
                  <a:srgbClr val="FFFFFF"/>
                </a:solidFill>
                <a:latin typeface="Segoe UI"/>
              </a:rPr>
              <a:t>Conclusión</a:t>
            </a:r>
          </a:p>
        </p:txBody>
      </p:sp>
      <p:sp>
        <p:nvSpPr>
          <p:cNvPr id="4" name="Rounded Rectangle 3"/>
          <p:cNvSpPr/>
          <p:nvPr/>
        </p:nvSpPr>
        <p:spPr>
          <a:xfrm>
            <a:off x="731520" y="1645920"/>
            <a:ext cx="640080" cy="868680"/>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wrap="square" tIns="25400" bIns="25400" rtlCol="0" anchor="ctr"/>
          <a:lstStyle/>
          <a:p>
            <a:pPr algn="ctr"/>
            <a:r>
              <a:rPr sz="2400" b="1">
                <a:solidFill>
                  <a:srgbClr val="FFFFFF"/>
                </a:solidFill>
                <a:latin typeface="Segoe UI"/>
              </a:rPr>
              <a:t>1</a:t>
            </a:r>
          </a:p>
        </p:txBody>
      </p:sp>
      <p:sp>
        <p:nvSpPr>
          <p:cNvPr id="5" name="TextBox 4"/>
          <p:cNvSpPr txBox="1"/>
          <p:nvPr/>
        </p:nvSpPr>
        <p:spPr>
          <a:xfrm>
            <a:off x="1554480" y="1645920"/>
            <a:ext cx="9966960" cy="868680"/>
          </a:xfrm>
          <a:prstGeom prst="rect">
            <a:avLst/>
          </a:prstGeom>
          <a:noFill/>
        </p:spPr>
        <p:txBody>
          <a:bodyPr wrap="square" anchor="ctr">
            <a:spAutoFit/>
          </a:bodyPr>
          <a:lstStyle/>
          <a:p>
            <a:pPr algn="l">
              <a:spcAft>
                <a:spcPts val="400"/>
              </a:spcAft>
            </a:pPr>
            <a:r>
              <a:rPr sz="1800" b="0" i="0">
                <a:solidFill>
                  <a:srgbClr val="222B36"/>
                </a:solidFill>
                <a:latin typeface="Segoe UI"/>
              </a:rPr>
              <a:t>El MLP es potente y exige un preprocesamiento cuidadoso (estandarización obligatoria)</a:t>
            </a:r>
          </a:p>
        </p:txBody>
      </p:sp>
      <p:sp>
        <p:nvSpPr>
          <p:cNvPr id="6" name="Rounded Rectangle 5"/>
          <p:cNvSpPr/>
          <p:nvPr/>
        </p:nvSpPr>
        <p:spPr>
          <a:xfrm>
            <a:off x="731520" y="2724912"/>
            <a:ext cx="640080" cy="868680"/>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wrap="square" tIns="25400" bIns="25400" rtlCol="0" anchor="ctr"/>
          <a:lstStyle/>
          <a:p>
            <a:pPr algn="ctr"/>
            <a:r>
              <a:rPr sz="2400" b="1">
                <a:solidFill>
                  <a:srgbClr val="FFFFFF"/>
                </a:solidFill>
                <a:latin typeface="Segoe UI"/>
              </a:rPr>
              <a:t>2</a:t>
            </a:r>
          </a:p>
        </p:txBody>
      </p:sp>
      <p:sp>
        <p:nvSpPr>
          <p:cNvPr id="7" name="TextBox 6"/>
          <p:cNvSpPr txBox="1"/>
          <p:nvPr/>
        </p:nvSpPr>
        <p:spPr>
          <a:xfrm>
            <a:off x="1554480" y="2724912"/>
            <a:ext cx="9966960" cy="868680"/>
          </a:xfrm>
          <a:prstGeom prst="rect">
            <a:avLst/>
          </a:prstGeom>
          <a:noFill/>
        </p:spPr>
        <p:txBody>
          <a:bodyPr wrap="square" anchor="ctr">
            <a:spAutoFit/>
          </a:bodyPr>
          <a:lstStyle/>
          <a:p>
            <a:pPr algn="l">
              <a:spcAft>
                <a:spcPts val="400"/>
              </a:spcAft>
            </a:pPr>
            <a:r>
              <a:rPr sz="1800" b="0" i="0">
                <a:solidFill>
                  <a:srgbClr val="222B36"/>
                </a:solidFill>
                <a:latin typeface="Segoe UI"/>
              </a:rPr>
              <a:t>Más complejidad NO garantizó mejores resultados: no supera al ensamblado</a:t>
            </a:r>
          </a:p>
        </p:txBody>
      </p:sp>
      <p:sp>
        <p:nvSpPr>
          <p:cNvPr id="8" name="Rounded Rectangle 7"/>
          <p:cNvSpPr/>
          <p:nvPr/>
        </p:nvSpPr>
        <p:spPr>
          <a:xfrm>
            <a:off x="731520" y="3803904"/>
            <a:ext cx="640080" cy="868680"/>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wrap="square" tIns="25400" bIns="25400" rtlCol="0" anchor="ctr"/>
          <a:lstStyle/>
          <a:p>
            <a:pPr algn="ctr"/>
            <a:r>
              <a:rPr sz="2400" b="1">
                <a:solidFill>
                  <a:srgbClr val="FFFFFF"/>
                </a:solidFill>
                <a:latin typeface="Segoe UI"/>
              </a:rPr>
              <a:t>3</a:t>
            </a:r>
          </a:p>
        </p:txBody>
      </p:sp>
      <p:sp>
        <p:nvSpPr>
          <p:cNvPr id="9" name="TextBox 8"/>
          <p:cNvSpPr txBox="1"/>
          <p:nvPr/>
        </p:nvSpPr>
        <p:spPr>
          <a:xfrm>
            <a:off x="1554480" y="3803904"/>
            <a:ext cx="9966960" cy="868680"/>
          </a:xfrm>
          <a:prstGeom prst="rect">
            <a:avLst/>
          </a:prstGeom>
          <a:noFill/>
        </p:spPr>
        <p:txBody>
          <a:bodyPr wrap="square" anchor="ctr">
            <a:spAutoFit/>
          </a:bodyPr>
          <a:lstStyle/>
          <a:p>
            <a:pPr algn="l">
              <a:spcAft>
                <a:spcPts val="400"/>
              </a:spcAft>
            </a:pPr>
            <a:r>
              <a:rPr sz="1800" b="0" i="0">
                <a:solidFill>
                  <a:srgbClr val="222B36"/>
                </a:solidFill>
                <a:latin typeface="Segoe UI"/>
              </a:rPr>
              <a:t>Ganó el criterio: elegimos el modelo que combina precisión e interpretabilidad</a:t>
            </a:r>
          </a:p>
        </p:txBody>
      </p:sp>
      <p:sp>
        <p:nvSpPr>
          <p:cNvPr id="10" name="Rounded Rectangle 9"/>
          <p:cNvSpPr/>
          <p:nvPr/>
        </p:nvSpPr>
        <p:spPr>
          <a:xfrm>
            <a:off x="731520" y="5120640"/>
            <a:ext cx="10744200" cy="1005840"/>
          </a:xfrm>
          <a:prstGeom prst="round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wrap="square" tIns="25400" bIns="25400" rtlCol="0" anchor="ctr"/>
          <a:lstStyle/>
          <a:p>
            <a:pPr algn="ctr"/>
            <a:r>
              <a:rPr sz="2000" b="1">
                <a:solidFill>
                  <a:srgbClr val="C0392B"/>
                </a:solidFill>
                <a:latin typeface="Segoe UI"/>
              </a:rPr>
              <a:t>Gracias.</a:t>
            </a:r>
          </a:p>
          <a:p>
            <a:pPr algn="ctr"/>
            <a:r>
              <a:rPr sz="2000" b="1">
                <a:solidFill>
                  <a:srgbClr val="C0392B"/>
                </a:solidFill>
                <a:latin typeface="Segoe UI"/>
              </a:rPr>
              <a:t>Gaitán · Debona · Agüero · Ocampo</a:t>
            </a:r>
          </a:p>
        </p:txBody>
      </p:sp>
    </p:spTree>
  </p:cSld>
  <p:clrMapOvr>
    <a:masterClrMapping/>
  </p:clrMapOv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83</TotalTime>
  <Words>2285</Words>
  <Application>Microsoft Office PowerPoint</Application>
  <PresentationFormat>Panorámica</PresentationFormat>
  <Paragraphs>211</Paragraphs>
  <Slides>20</Slides>
  <Notes>20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20</vt:i4>
      </vt:variant>
    </vt:vector>
  </HeadingPairs>
  <TitlesOfParts>
    <vt:vector size="24" baseType="lpstr">
      <vt:lpstr>Arial</vt:lpstr>
      <vt:lpstr>Calibri</vt:lpstr>
      <vt:lpstr>Segoe UI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Marcos Debona</dc:creator>
  <cp:keywords/>
  <dc:description>generated using python-pptx</dc:description>
  <cp:lastModifiedBy>Marcos Debona</cp:lastModifiedBy>
  <cp:revision>10</cp:revision>
  <dcterms:created xsi:type="dcterms:W3CDTF">2013-01-27T09:14:16Z</dcterms:created>
  <dcterms:modified xsi:type="dcterms:W3CDTF">2026-06-16T03:15:35Z</dcterms:modified>
  <cp:category/>
</cp:coreProperties>
</file>